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299" r:id="rId2"/>
    <p:sldId id="329" r:id="rId3"/>
    <p:sldId id="390" r:id="rId4"/>
    <p:sldId id="458" r:id="rId5"/>
    <p:sldId id="391" r:id="rId6"/>
    <p:sldId id="392" r:id="rId7"/>
    <p:sldId id="393" r:id="rId8"/>
    <p:sldId id="394" r:id="rId9"/>
    <p:sldId id="395" r:id="rId10"/>
    <p:sldId id="396" r:id="rId11"/>
    <p:sldId id="397" r:id="rId12"/>
    <p:sldId id="399" r:id="rId13"/>
    <p:sldId id="454" r:id="rId14"/>
    <p:sldId id="453" r:id="rId15"/>
    <p:sldId id="455" r:id="rId16"/>
    <p:sldId id="456" r:id="rId17"/>
    <p:sldId id="400" r:id="rId18"/>
    <p:sldId id="457" r:id="rId19"/>
    <p:sldId id="401" r:id="rId20"/>
    <p:sldId id="404" r:id="rId21"/>
    <p:sldId id="403" r:id="rId22"/>
    <p:sldId id="402" r:id="rId23"/>
    <p:sldId id="405" r:id="rId24"/>
    <p:sldId id="408" r:id="rId25"/>
    <p:sldId id="406" r:id="rId26"/>
    <p:sldId id="407" r:id="rId27"/>
    <p:sldId id="409" r:id="rId28"/>
    <p:sldId id="410" r:id="rId29"/>
    <p:sldId id="411" r:id="rId30"/>
    <p:sldId id="412" r:id="rId31"/>
    <p:sldId id="413" r:id="rId32"/>
    <p:sldId id="414" r:id="rId33"/>
    <p:sldId id="415" r:id="rId34"/>
    <p:sldId id="418" r:id="rId35"/>
    <p:sldId id="419" r:id="rId36"/>
    <p:sldId id="420" r:id="rId37"/>
    <p:sldId id="421" r:id="rId38"/>
    <p:sldId id="422" r:id="rId39"/>
    <p:sldId id="416" r:id="rId40"/>
    <p:sldId id="417" r:id="rId41"/>
    <p:sldId id="424" r:id="rId42"/>
    <p:sldId id="425" r:id="rId43"/>
    <p:sldId id="426" r:id="rId44"/>
    <p:sldId id="427" r:id="rId45"/>
    <p:sldId id="429" r:id="rId46"/>
    <p:sldId id="430" r:id="rId47"/>
    <p:sldId id="431" r:id="rId48"/>
    <p:sldId id="441" r:id="rId49"/>
    <p:sldId id="442" r:id="rId50"/>
    <p:sldId id="443" r:id="rId51"/>
    <p:sldId id="444" r:id="rId52"/>
    <p:sldId id="445" r:id="rId53"/>
    <p:sldId id="446" r:id="rId54"/>
    <p:sldId id="447" r:id="rId55"/>
    <p:sldId id="448" r:id="rId56"/>
    <p:sldId id="449" r:id="rId57"/>
    <p:sldId id="450" r:id="rId58"/>
    <p:sldId id="451" r:id="rId59"/>
    <p:sldId id="452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35" d="100"/>
          <a:sy n="35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33598-59FB-41BF-ACF3-2A43CB9647E3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E10035-8809-402A-A7D9-231BE7CDC7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55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50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43D26-4F5A-96CE-CB16-82E5DD745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DCC2B7-E4B3-CBE1-88DB-7101D9212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D75AD-1C50-E170-ADAC-77734B14A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E608E-E0E4-A3DC-699C-C2826FC32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437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D3AF0-1ADD-928E-B16C-224BDD01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2653E-B833-4655-E386-341B2F28C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FD7B8-727D-2FCD-9BBB-85F741F85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E12D44-FE88-BEDC-7538-B1EA221A8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733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1D8D9-4CF8-E5EF-342C-2EC593ECD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AE52C2-A626-E2BD-EFC9-040E94FC3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DE3E35-08A7-92CE-79F0-7CD7A7C7C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DFF12-E6B4-1998-33B1-6D3DD7EF8B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75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57422-2335-E982-D2C3-6DA2A3855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F55463-6D28-408E-FEDB-85B52A206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5E2CE5-DD5B-953B-22D0-EA7753669E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FE4A4-F08B-890A-FC36-93C3D1E32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2663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F5E7-7DC4-ED11-DE37-F2C6B4ADD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70EDE-2FCA-5114-004F-970D0EB1E2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B7A407-36B9-8565-D31A-1CC0BB8F9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023C3-F014-BB08-4A3B-CD5A912AD7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4621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A02C7-6DE7-A30C-84EA-DB4E4BAA0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1E690-8C19-7D9C-04B5-F15165C207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6B4C65-0F2B-EAF4-A78D-A9DDFA358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8EB57-C5EE-2113-9740-442414A45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8124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0A8B9-D693-7A33-5AAF-9033DC64B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A4A56-EAF4-1696-0796-659146FDC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F1F2D-EDFB-4446-F6C9-88FDB8444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F5E37E-B95D-C8F5-B7AA-8D47BF57D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2457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5DD38-4983-D08A-7ECA-529706643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33C37F-C03D-3AD1-AF01-3C0785373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2B880-C692-A095-4C6C-9AC28CAFB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98D97-A554-C163-BF7D-FEE843F5C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376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3334D-0D2C-D860-1504-0DE809936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8DAA68-A901-8787-D621-BF57D8C52F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36B928-9D6E-6230-435C-ADFD9309A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3FBF6-9038-C802-1458-26606C3F9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76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688A-CE59-2C42-860B-D59E8FEA8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14564D-839D-BC86-320B-1654BFE5D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BC370-DA23-A093-533B-4514192E9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088BC-CAC5-93F2-E02C-3898970B9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485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D2C91-293A-7743-9D89-16AA35E30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7CC63-0AD5-CE78-2997-E2403795E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CEE10-6550-F110-948C-01D0B84EF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5EDCC-0925-C53B-DC00-8E6F17BE7A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7717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238A9-3A93-FC2D-B12B-C42459EAD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80D69C-F086-D838-EBFB-3A99106CB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8E8B2-7FB9-0F83-7544-BD69177DD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1D1D2-BEB0-30E2-FC3A-0645C90399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5232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6CDFE-4D68-AABD-7123-90EAC601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7D0B8-C4F0-C8EE-178E-EFF6B325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2B7B8-7753-4582-338C-2B5978A9E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931CB-0FB2-89E4-1F8D-A2981515F2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143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03478-472F-8BC3-43EB-9EB92337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A683AA-B1AC-CEC7-F01D-0DF7E5500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88E07F-2185-3711-7A8F-23BD2C994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AB36A-0964-E973-F82F-FF3394304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E10035-8809-402A-A7D9-231BE7CDC779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083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A981-398E-B82D-8561-746618ED5F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0DDCF-B4B6-C1F2-FC3A-E55F9B162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21A95-C3D8-1402-2455-A5B3A4D7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EEBE0-BB1D-D63E-BF89-65B9C46E7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33170-BBA0-A2E2-348D-E1EC93B4E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054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945A7-5115-F8C8-D531-89E6B4D1A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92E68-8EDF-2BA5-6CC9-8CB912BF2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D114E-8785-3649-232F-146995D1A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63E4B-BFCC-A37C-A317-93163414E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A8E9D-5F12-F5D0-4791-6DA80C099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237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21F4-A03A-A95D-1A87-57D4B4BD7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4B412-3F6A-DE9C-8D4F-45727E6C9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0ECA40-2C45-D61B-8F87-6D9EDD9F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CF3E4-E58C-39AE-CCD7-F9F52457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6F62A-F0D9-AA2B-2ED2-BAE90A15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25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0FA89-1BB0-D580-E54D-61028DDF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D2034-1494-140A-3C37-CED2E7AF7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D812-A0D8-E45C-8176-75E22E620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9EE301-884A-90CE-D56B-6B6337D6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963047-D1EC-B9D4-29CE-255130410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D6E05F-1F78-2DB8-DEED-B9919EF5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16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54A3-D0F1-6462-7096-5AE754B7D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4303C-4FC9-9BF6-9925-466B6DEF3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0C4EF-87EE-4687-00C8-2460F6742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815A23-626E-B8CB-61CD-0D5F28F67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6F5D5-8B90-D32D-23D6-999029ABF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40514A-81C9-C021-35D8-B54CD73AC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FA740-AE4B-88FE-FAEE-5F277FA00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65C60-3AF5-EAEE-D4DB-B3D6452EA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626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178B-4A84-8CFE-3976-143F5796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B13522-4E2C-C041-323C-5812CC87B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759C26-1798-9D69-A2E9-F0A533291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FA4654-511E-6690-25AF-99D54C32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5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31767B-1E97-C85E-96CE-2EC72007D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3A049A-3FC3-ED5C-9141-A54C1931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F38CD-2396-631C-1146-738A66D6E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63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F7BF7-68CB-F43D-82D3-E7B433C4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38626-E033-10BC-E4F8-A50AE4374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036358-9F23-413E-6AF8-63DAB6EB4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C39852-2914-A91B-8D8F-8AF4CCE34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1410E-976E-5C16-AEA1-04566E548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418E1-E470-70D3-52F1-31F5B75D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187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38A8-6FAD-94C2-1861-4859B205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66136B-0CB3-E343-A49B-5D1FDB732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CCF86D-2B2E-B9A7-DD49-F8091112A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13990-7532-F216-A63E-EE30722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6B5CB-1FD6-18F5-D8D4-BCED7972F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14286-1A7F-6B53-9B93-41D916E86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34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A9496-B353-FF9E-EE11-8135591CF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DEBB3-3F87-4044-D733-C6B547845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33EF1-E727-74F0-E64A-F7161480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F203E-3551-2966-C951-9613A2E31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8C902-A22C-2B9D-258E-C79C76FE8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684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5691E-4461-9F0F-366B-83ABE1BF4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C7D157-A4E5-F6D7-83FC-5C734388CA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ADF34-293D-8A0B-E397-88A775F8B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DD40B-A35F-172A-D4D1-80024E0A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04AA4-2308-4CAE-B33C-EC2D3F56F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26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949E1-DFFF-A61B-C885-4A525697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E9DBF2-3AEB-7004-6B3C-DB8B588C3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7A7B-100B-BDE2-37BD-B24C19E27E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C7155E-9129-4D7D-ABC7-C1A82AB9357A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E9FC8-6EA3-4C57-07F0-1AB756B518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5184D-07DC-40C1-E2B9-C1766FB49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450B04-BA4E-47B5-933A-2C9037981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53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3867C-EC8F-AF8D-29C8-F567A2114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544" y="7355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Arial Black" panose="020B0A04020102020204" pitchFamily="34" charset="0"/>
              </a:rPr>
              <a:t>ELLM – Session –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3F000-A665-9761-A314-A5655D978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187" y="1849898"/>
            <a:ext cx="11875625" cy="3879693"/>
          </a:xfrm>
        </p:spPr>
        <p:txBody>
          <a:bodyPr>
            <a:noAutofit/>
          </a:bodyPr>
          <a:lstStyle/>
          <a:p>
            <a:pPr marL="0" lvl="0" indent="0" algn="just">
              <a:buNone/>
            </a:pPr>
            <a:r>
              <a:rPr lang="en-US" sz="3200" dirty="0">
                <a:latin typeface="Arial Black" panose="020B0A04020102020204" pitchFamily="34" charset="0"/>
              </a:rPr>
              <a:t>Foundations of Language Models</a:t>
            </a:r>
          </a:p>
          <a:p>
            <a:pPr marL="0" lvl="0" indent="0" algn="just">
              <a:buNone/>
            </a:pPr>
            <a:r>
              <a:rPr lang="en-US" sz="3200" dirty="0">
                <a:latin typeface="Arial Black" panose="020B0A04020102020204" pitchFamily="34" charset="0"/>
              </a:rPr>
              <a:t> </a:t>
            </a:r>
          </a:p>
          <a:p>
            <a:pPr marL="534988" lvl="0" indent="-534988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rial Black" panose="020B0A04020102020204" pitchFamily="34" charset="0"/>
              </a:rPr>
              <a:t>Statistical Language Models - n-Gram </a:t>
            </a:r>
          </a:p>
          <a:p>
            <a:pPr marL="534988" lvl="0" indent="-534988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rial Black" panose="020B0A04020102020204" pitchFamily="34" charset="0"/>
              </a:rPr>
              <a:t>Neural Language Models - RNN, LSTM</a:t>
            </a:r>
            <a:r>
              <a:rPr lang="en-US" sz="3200">
                <a:latin typeface="Arial Black" panose="020B0A04020102020204" pitchFamily="34" charset="0"/>
              </a:rPr>
              <a:t>, GRU</a:t>
            </a:r>
            <a:endParaRPr lang="en-US" sz="3200" dirty="0">
              <a:latin typeface="Arial Black" panose="020B0A04020102020204" pitchFamily="34" charset="0"/>
            </a:endParaRPr>
          </a:p>
          <a:p>
            <a:pPr marL="534988" lvl="0" indent="-534988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rial Black" panose="020B0A04020102020204" pitchFamily="34" charset="0"/>
              </a:rPr>
              <a:t>Sequence-to-Sequence Evolution </a:t>
            </a:r>
          </a:p>
          <a:p>
            <a:pPr marL="534988" lvl="0" indent="-534988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Arial Black" panose="020B0A04020102020204" pitchFamily="34" charset="0"/>
              </a:rPr>
              <a:t>Transformer Models </a:t>
            </a:r>
            <a:endParaRPr lang="en-IN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522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7E865-AEB6-4ECE-481E-77BD6943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6E671-2C46-3A52-70D4-CCB3C821B0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Foundations of Language Models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437C153-20C5-A0D9-5028-4E01441812B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5747" y="592238"/>
                <a:ext cx="11968222" cy="6265762"/>
              </a:xfrm>
            </p:spPr>
            <p:txBody>
              <a:bodyPr>
                <a:noAutofit/>
              </a:bodyPr>
              <a:lstStyle/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Language Models (LMs) are the backbone of modern Natural Language Processing (NLP).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A language model learns the probability distribution of words and predicts the likelihood of a sequence of words occurring in a language. 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Given a sequence of words, a language model estimates the probability of the next word. 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For a sentence consisting of words: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 The probability of the complete sentence is: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Using the chain rule of probability:</a:t>
                </a:r>
              </a:p>
              <a:p>
                <a:pPr algn="just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Language models differ in how they estimate these probabilities.</a:t>
                </a:r>
              </a:p>
              <a:p>
                <a:pPr algn="just"/>
                <a:endParaRPr lang="en-US" sz="2800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437C153-20C5-A0D9-5028-4E01441812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5747" y="592238"/>
                <a:ext cx="11968222" cy="6265762"/>
              </a:xfrm>
              <a:blipFill>
                <a:blip r:embed="rId2"/>
                <a:stretch>
                  <a:fillRect l="-713" t="-1362" r="-76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637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9D7C5-504D-3E68-C33B-60E42C8E3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314CE-A2FE-37EC-FA43-7BF1B2426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Types of </a:t>
            </a:r>
            <a:r>
              <a:rPr lang="en-IN" sz="3600" b="1" dirty="0" err="1">
                <a:latin typeface="Arial Black" panose="020B0A04020102020204" pitchFamily="34" charset="0"/>
              </a:rPr>
              <a:t>Langage</a:t>
            </a:r>
            <a:r>
              <a:rPr lang="en-IN" sz="3600" b="1" dirty="0">
                <a:latin typeface="Arial Black" panose="020B0A04020102020204" pitchFamily="34" charset="0"/>
              </a:rPr>
              <a:t> Models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B74B3-7266-7B50-6D70-80041E757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7" y="592238"/>
            <a:ext cx="11968222" cy="6265762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Statistical Language Models</a:t>
            </a:r>
          </a:p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Neural Language Models</a:t>
            </a:r>
          </a:p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Sequence-to-Sequence Models </a:t>
            </a:r>
          </a:p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Attention Models</a:t>
            </a:r>
          </a:p>
          <a:p>
            <a:pPr marL="534988" indent="-534988" algn="just"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Transformer models</a:t>
            </a:r>
          </a:p>
          <a:p>
            <a:pPr algn="just"/>
            <a:endParaRPr lang="en-US" sz="28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962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FE0C0-AF36-44A8-E5D0-815592F4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D1849-376C-C7A2-24A4-3352E14E9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425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8CB55-EDCD-0D88-709E-EF61F1C17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572ED-0661-6504-FCF3-095A3C2BA1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Statistical Language Models -  n-gram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99FE3-CF62-EF08-1DF5-CB01B8644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7" y="592238"/>
            <a:ext cx="11968222" cy="4798912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Statistical Language Models estimate word probabilities based on statistical occurrences in large text corpora.</a:t>
            </a: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An n-gram is a sequence of n consecutive words.</a:t>
            </a: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Examples: Sentence:  "I love natural language processing"</a:t>
            </a: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Unigram (n=1): [I], [love], [natural], [language], [processing]</a:t>
            </a: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Bigram (n=2): [ I love], [love natural]</a:t>
            </a: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dirty="0">
              <a:latin typeface="Arial Black" panose="020B0A04020102020204" pitchFamily="34" charset="0"/>
            </a:endParaRPr>
          </a:p>
          <a:p>
            <a:pPr marL="534988" indent="-534988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Trigram (n=3):  [ I love Natural] </a:t>
            </a: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204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1CEE2-BC4C-C84D-E254-2CF93BBA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EEAA7-67A9-55E1-A00D-FE801EB08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Estimating the probabilities of grams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04C93FF-0464-6849-B61C-73C38E887A6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5747" y="592238"/>
                <a:ext cx="11968222" cy="6265762"/>
              </a:xfrm>
            </p:spPr>
            <p:txBody>
              <a:bodyPr>
                <a:no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Bigram Model:  </a:t>
                </a:r>
                <a:r>
                  <a:rPr lang="en-IN" dirty="0">
                    <a:latin typeface="Arial Black" panose="020B0A04020102020204" pitchFamily="34" charset="0"/>
                  </a:rPr>
                  <a:t>Assumes that a word depends only on the previous word.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...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Sentence probability: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...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=2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Trigram Model: </a:t>
                </a:r>
                <a:r>
                  <a:rPr lang="en-IN" dirty="0">
                    <a:latin typeface="Arial Black" panose="020B0A04020102020204" pitchFamily="34" charset="0"/>
                  </a:rPr>
                  <a:t>Assumes dependence on the previous two words.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...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Sentence probability: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...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limLoc m:val="undOvr"/>
                          <m:grow m:val="on"/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=3</m:t>
                          </m:r>
                        </m:sub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800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04C93FF-0464-6849-B61C-73C38E887A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5747" y="592238"/>
                <a:ext cx="11968222" cy="6265762"/>
              </a:xfrm>
              <a:blipFill>
                <a:blip r:embed="rId2"/>
                <a:stretch>
                  <a:fillRect l="-713" t="-13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685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412A5-B2FB-7628-8C55-90F9E74A0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8F8F9-C580-BC52-9004-CF878D5BD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Estimating the probabilities of n-grams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8AA2CA9-D424-F68F-98F9-72F9B6CDCD7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5747" y="592238"/>
                <a:ext cx="11968222" cy="6265762"/>
              </a:xfrm>
            </p:spPr>
            <p:txBody>
              <a:bodyPr>
                <a:noAutofit/>
              </a:bodyPr>
              <a:lstStyle/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Consider corpus: "I love NLP", "I love AI"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Bigram probability: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𝑙𝑜𝑣𝑒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𝑙𝑜𝑣𝑒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If Count (I, love) = 2, Count(I) = 2  Then: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𝑙𝑜𝑣𝑒</m:t>
                    </m:r>
                    <m:r>
                      <a:rPr lang="en-IN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)=1.0</m:t>
                    </m:r>
                  </m:oMath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8AA2CA9-D424-F68F-98F9-72F9B6CDCD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5747" y="592238"/>
                <a:ext cx="11968222" cy="6265762"/>
              </a:xfrm>
              <a:blipFill>
                <a:blip r:embed="rId2"/>
                <a:stretch>
                  <a:fillRect l="-7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0997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82BC5-5B3A-236A-30D6-B9F8976F0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E4FA-4D6A-E6C7-0669-574A778D70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n-grams Advantages and Limitations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CD3802-FFE0-E44B-AFDD-70BAC60D97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7" y="592238"/>
            <a:ext cx="11968222" cy="6110119"/>
          </a:xfrm>
        </p:spPr>
        <p:txBody>
          <a:bodyPr>
            <a:noAutofit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b="1" dirty="0">
                <a:latin typeface="Arial Black" panose="020B0A04020102020204" pitchFamily="34" charset="0"/>
              </a:rPr>
              <a:t>Advantages:  </a:t>
            </a:r>
            <a:r>
              <a:rPr lang="en-IN" dirty="0">
                <a:latin typeface="Arial Black" panose="020B0A04020102020204" pitchFamily="34" charset="0"/>
              </a:rPr>
              <a:t>Easy to understand:  Fast computation, Works well on small datasets, Requires no deep learning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b="1" dirty="0">
                <a:latin typeface="Arial Black" panose="020B0A04020102020204" pitchFamily="34" charset="0"/>
              </a:rPr>
              <a:t>Limitations: </a:t>
            </a:r>
            <a:endParaRPr lang="en-IN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719138" lvl="0" indent="-35877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b="1" dirty="0">
                <a:highlight>
                  <a:srgbClr val="FFFF00"/>
                </a:highlight>
                <a:latin typeface="Arial Black" panose="020B0A04020102020204" pitchFamily="34" charset="0"/>
              </a:rPr>
              <a:t>Data Sparsity: </a:t>
            </a:r>
            <a:r>
              <a:rPr lang="en-IN" dirty="0">
                <a:latin typeface="Arial Black" panose="020B0A04020102020204" pitchFamily="34" charset="0"/>
              </a:rPr>
              <a:t>Many word combinations never appear in training, such as  "Artificial intelligence revolution", which may never occur.</a:t>
            </a:r>
          </a:p>
          <a:p>
            <a:pPr marL="719138" lvl="0" indent="-358775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b="1" dirty="0">
                <a:highlight>
                  <a:srgbClr val="FFFF00"/>
                </a:highlight>
                <a:latin typeface="Arial Black" panose="020B0A04020102020204" pitchFamily="34" charset="0"/>
              </a:rPr>
              <a:t>Fixed Context Window:  </a:t>
            </a:r>
            <a:r>
              <a:rPr lang="en-IN" dirty="0">
                <a:latin typeface="Arial Black" panose="020B0A04020102020204" pitchFamily="34" charset="0"/>
              </a:rPr>
              <a:t>Bigram sees only one previous word.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  <a:p>
            <a:pPr lvl="0" algn="just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rial Black" panose="020B0A04020102020204" pitchFamily="34" charset="0"/>
              </a:rPr>
              <a:t>Example: "The animal didn't cross the road because </a:t>
            </a:r>
            <a:r>
              <a:rPr lang="en-IN" b="1" dirty="0">
                <a:latin typeface="Arial Black" panose="020B0A04020102020204" pitchFamily="34" charset="0"/>
              </a:rPr>
              <a:t>it</a:t>
            </a:r>
            <a:r>
              <a:rPr lang="en-IN" dirty="0">
                <a:latin typeface="Arial Black" panose="020B0A04020102020204" pitchFamily="34" charset="0"/>
              </a:rPr>
              <a:t> was tired.", Bigram cannot identify what "it" refers to.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  <a:p>
            <a:pPr marL="895350" lvl="0" indent="-6223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For a large n, Vocabulary Explosion is extremely large</a:t>
            </a:r>
          </a:p>
          <a:p>
            <a:pPr marL="895350" lvl="0" indent="-6223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IN" dirty="0">
                <a:latin typeface="Arial Black" panose="020B0A04020102020204" pitchFamily="34" charset="0"/>
              </a:rPr>
              <a:t>The probability of a set of words may be zero, requiring the implementation of smoothing</a:t>
            </a:r>
          </a:p>
          <a:p>
            <a:pPr algn="l"/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8643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01F6-6F4B-6219-3136-E6E7A8B5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1AD85-085D-94A9-24B5-B824BFB89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Smoothing through Laplace </a:t>
            </a:r>
            <a:r>
              <a:rPr lang="en-IN" sz="3600" b="1" dirty="0" err="1">
                <a:latin typeface="Arial Black" panose="020B0A04020102020204" pitchFamily="34" charset="0"/>
              </a:rPr>
              <a:t>Transfermation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75C9393-7BA7-70DA-4B25-1E872EEEEDB7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5747" y="1068894"/>
                <a:ext cx="11968222" cy="3347464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sz="2800" b="1" dirty="0">
                    <a:latin typeface="Arial Black" panose="020B0A04020102020204" pitchFamily="34" charset="0"/>
                  </a:rPr>
                  <a:t>Laplace Smoothing</a:t>
                </a:r>
              </a:p>
              <a:p>
                <a:pPr algn="l"/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sz="28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800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)+1</m:t>
                          </m:r>
                        </m:num>
                        <m:den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  is vocabulary size.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just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US" sz="2300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75C9393-7BA7-70DA-4B25-1E872EEEED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5747" y="1068894"/>
                <a:ext cx="11968222" cy="3347464"/>
              </a:xfrm>
              <a:blipFill>
                <a:blip r:embed="rId2"/>
                <a:stretch>
                  <a:fillRect l="-1070" t="-30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399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6B391-ADEC-FC8A-0C8B-377D1097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BB62-8E64-81A0-B6C3-149513544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Neural Language Models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E91ADE-C4A2-A9B0-9FBB-24271AF11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7" y="1068894"/>
            <a:ext cx="11968222" cy="3347464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Neural Language Models use neural networks to automatically learn word representations and language patterns.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highlight>
                  <a:srgbClr val="FFFF00"/>
                </a:highlight>
                <a:latin typeface="Arial Black" panose="020B0A04020102020204" pitchFamily="34" charset="0"/>
              </a:rPr>
              <a:t>Advantages:  </a:t>
            </a:r>
            <a:r>
              <a:rPr lang="en-US" sz="2800" b="1" dirty="0">
                <a:latin typeface="Arial Black" panose="020B0A04020102020204" pitchFamily="34" charset="0"/>
              </a:rPr>
              <a:t>Learn semantic relationships, handle unseen combinations better, </a:t>
            </a:r>
            <a:r>
              <a:rPr lang="en-US" sz="2800" b="1" dirty="0" err="1">
                <a:latin typeface="Arial Black" panose="020B0A04020102020204" pitchFamily="34" charset="0"/>
              </a:rPr>
              <a:t>generalise</a:t>
            </a:r>
            <a:r>
              <a:rPr lang="en-US" sz="2800" b="1" dirty="0">
                <a:latin typeface="Arial Black" panose="020B0A04020102020204" pitchFamily="34" charset="0"/>
              </a:rPr>
              <a:t> effectively, and reduce sparsity issues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The frequently used models include RNN, LSTM and GRU</a:t>
            </a: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/>
            <a:endParaRPr lang="en-IN" sz="2800" dirty="0">
              <a:latin typeface="Arial Black" panose="020B0A04020102020204" pitchFamily="34" charset="0"/>
            </a:endParaRPr>
          </a:p>
          <a:p>
            <a:pPr algn="l"/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/>
            <a:endParaRPr lang="en-IN" sz="28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146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6E18E-69B3-2553-042E-FBA74314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31911-C874-829B-85B8-B0855ECBD7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RNN Models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88253-3A06-7A4C-047F-A128F68EC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747" y="1068894"/>
            <a:ext cx="11968222" cy="4689880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latin typeface="Arial Black" panose="020B0A04020102020204" pitchFamily="34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RNNs were the first successful neural language models designed for sequential data.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Motivation: Words in a sentence depend on previous words.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Example: "The sun rises in the ____”, Prediction depends on preceding words.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/>
            <a:endParaRPr lang="en-IN" sz="2800" dirty="0">
              <a:latin typeface="Arial Black" panose="020B0A04020102020204" pitchFamily="34" charset="0"/>
            </a:endParaRPr>
          </a:p>
          <a:p>
            <a:pPr algn="l"/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/>
            <a:endParaRPr lang="en-IN" sz="28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just"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US" sz="2300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5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82A15-086D-C1C1-9D0F-F01644408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9E04-2D49-67E0-8F33-F29F5ACAF0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RNN Architecture description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07A4867-D930-4FF5-5090-408554DDFA4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465778"/>
                <a:ext cx="12136055" cy="6265762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US" sz="2800" b="1" dirty="0">
                    <a:latin typeface="Arial Black" panose="020B0A04020102020204" pitchFamily="34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r>
                  <a:rPr lang="en-IN" dirty="0">
                    <a:latin typeface="Arial Black" panose="020B0A04020102020204" pitchFamily="34" charset="0"/>
                  </a:rPr>
                  <a:t>At time step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:</a:t>
                </a: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Inputs: </a:t>
                </a:r>
                <a:r>
                  <a:rPr lang="en-IN" dirty="0">
                    <a:latin typeface="Arial Black" panose="020B0A04020102020204" pitchFamily="34" charset="0"/>
                  </a:rPr>
                  <a:t>Current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Previous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Outputs: </a:t>
                </a:r>
                <a:r>
                  <a:rPr lang="en-IN" dirty="0">
                    <a:latin typeface="Arial Black" panose="020B0A04020102020204" pitchFamily="34" charset="0"/>
                  </a:rPr>
                  <a:t>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Hidden State Update:</a:t>
                </a:r>
                <a:endParaRPr lang="en-IN" dirty="0">
                  <a:highlight>
                    <a:srgbClr val="FFFF00"/>
                  </a:highlight>
                  <a:latin typeface="Arial Black" panose="020B0A04020102020204" pitchFamily="34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IN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𝑥ℎ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ℎℎ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where:</a:t>
                </a:r>
              </a:p>
              <a:p>
                <a:pPr algn="l"/>
                <a:endParaRPr lang="en-IN" sz="800" dirty="0">
                  <a:latin typeface="Arial Black" panose="020B0A04020102020204" pitchFamily="34" charset="0"/>
                </a:endParaRP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𝑥ℎ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= input weight matrix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ℎℎ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= recurrent weight matrix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= bias </a:t>
                </a:r>
              </a:p>
              <a:p>
                <a:pPr algn="l"/>
                <a:r>
                  <a:rPr lang="en-IN" b="1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Output Layer</a:t>
                </a:r>
                <a:endParaRPr lang="en-IN" dirty="0">
                  <a:highlight>
                    <a:srgbClr val="FFFF00"/>
                  </a:highlight>
                  <a:latin typeface="Arial Black" panose="020B0A04020102020204" pitchFamily="34" charset="0"/>
                </a:endParaRP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𝑆𝑜𝑓𝑡𝑚𝑎𝑥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ℎ𝑦</m:t>
                          </m:r>
                        </m:sub>
                      </m:sSub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Working Example: </a:t>
                </a:r>
                <a:r>
                  <a:rPr lang="en-IN" dirty="0">
                    <a:latin typeface="Arial Black" panose="020B0A04020102020204" pitchFamily="34" charset="0"/>
                  </a:rPr>
                  <a:t>Sentence: "I love NLP"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Processing: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Step 1: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Step 2: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𝑙𝑜𝑣𝑒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Step 3: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𝑁𝐿𝑃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Information flows through hidden states.</a:t>
                </a:r>
              </a:p>
              <a:p>
                <a:pPr algn="l"/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Advantages: </a:t>
                </a:r>
                <a:r>
                  <a:rPr lang="en-IN" dirty="0">
                    <a:latin typeface="Arial Black" panose="020B0A04020102020204" pitchFamily="34" charset="0"/>
                  </a:rPr>
                  <a:t>Handles sequences, Shares parameters across time, Learns contextual dependencies </a:t>
                </a:r>
              </a:p>
              <a:p>
                <a:pPr algn="l"/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Limitations: Vanishing Gradient Problem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During backpropagation: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IN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IN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becomes extremely small. The model forgets long-range information.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Exploding Gradient: </a:t>
                </a:r>
                <a:r>
                  <a:rPr lang="en-IN" dirty="0">
                    <a:latin typeface="Arial Black" panose="020B0A04020102020204" pitchFamily="34" charset="0"/>
                  </a:rPr>
                  <a:t>Gradients become excessively large. Training becomes unstable.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Poor Long-Term Memory, </a:t>
                </a:r>
                <a:r>
                  <a:rPr lang="en-IN" dirty="0">
                    <a:latin typeface="Arial Black" panose="020B0A04020102020204" pitchFamily="34" charset="0"/>
                  </a:rPr>
                  <a:t>RNN struggles with long sentences.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sz="2800" dirty="0">
                  <a:effectLst/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/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07A4867-D930-4FF5-5090-408554DDF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465778"/>
                <a:ext cx="12136055" cy="6265762"/>
              </a:xfrm>
              <a:blipFill>
                <a:blip r:embed="rId2"/>
                <a:stretch>
                  <a:fillRect l="-753" b="-2104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326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67C8-4D15-7F36-ED81-FF6FCD4C7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92E2B-407B-AB1D-5801-223E8494B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 descr="Recurrent Neural Networks: A Comprehensive Review of Architectures,  Variants, and Applications">
            <a:extLst>
              <a:ext uri="{FF2B5EF4-FFF2-40B4-BE49-F238E27FC236}">
                <a16:creationId xmlns:a16="http://schemas.microsoft.com/office/drawing/2014/main" id="{FF5FCA2A-160C-A439-6B42-CA3EC86D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0" y="79838"/>
            <a:ext cx="8372475" cy="6317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178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788C3F-9A6F-5C85-ED7D-A73E5B4EC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7275" y="2435923"/>
            <a:ext cx="10544175" cy="42982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2C7E47-B59A-2935-43E3-41D665D3AD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9" t="5780" r="2898" b="7517"/>
          <a:stretch>
            <a:fillRect/>
          </a:stretch>
        </p:blipFill>
        <p:spPr>
          <a:xfrm>
            <a:off x="1390446" y="123825"/>
            <a:ext cx="9201354" cy="238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25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1C2CA-47BE-5BAF-A95B-DB10E3FE8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5F40-5A5F-615B-0E49-70B74DDEF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9B3688-3232-D0BF-3C70-A6D29C4A6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56" y="276225"/>
            <a:ext cx="10678744" cy="62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8661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7B34C-AC6F-8745-45A3-E3559901E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013CC-4716-0478-1D2F-273F6B3B2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F2F12-FE44-E5F7-3BD1-02ADA67A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8" y="95249"/>
            <a:ext cx="11431871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56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BFE2B-5055-02E6-F134-C6E4FAA2F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DB0F6-2969-84CB-C2F8-1459F08FE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RNN Architecture Example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0CCC089-A02E-D143-27E9-8824D7D879A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465778"/>
                <a:ext cx="12136055" cy="6265762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b="1" dirty="0">
                    <a:latin typeface="Arial Black" panose="020B0A04020102020204" pitchFamily="34" charset="0"/>
                  </a:rPr>
    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    </a:r>
                <a:r>
                  <a:rPr lang="en-IN" b="1" dirty="0">
                    <a:latin typeface="Arial Black" panose="020B0A04020102020204" pitchFamily="34" charset="0"/>
                  </a:rPr>
                  <a:t>Working Example: </a:t>
                </a:r>
                <a:r>
                  <a:rPr lang="en-IN" dirty="0">
                    <a:latin typeface="Arial Black" panose="020B0A04020102020204" pitchFamily="34" charset="0"/>
                  </a:rPr>
                  <a:t>Sentence: "I love NLP"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Processing: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Step 1: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Step 2: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𝑙𝑜𝑣𝑒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Step 3: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𝑁𝐿𝑃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i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Information flows through hidden states.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effectLst/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10CCC089-A02E-D143-27E9-8824D7D87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465778"/>
                <a:ext cx="12136055" cy="6265762"/>
              </a:xfrm>
              <a:blipFill>
                <a:blip r:embed="rId2"/>
                <a:stretch>
                  <a:fillRect l="-7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532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5B647-FC65-B026-47B3-A61794659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B3B6D-0B1E-D4B8-2E89-3D570C718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AD189-BAC6-E73C-CE3A-E21F3EFDA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2426" y="109493"/>
            <a:ext cx="11487150" cy="6634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284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9EF9F-09F1-2C53-1AC9-F9F3A3EF5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009A2-88D9-8B85-121D-F98394F884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 Black" panose="020B0A04020102020204" pitchFamily="34" charset="0"/>
              </a:rPr>
              <a:t>RNN Advantages and Limitations</a:t>
            </a:r>
            <a:endParaRPr lang="en-IN" sz="3600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7B4485B-89CE-8119-2C49-52C2DEE4C46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465778"/>
                <a:ext cx="12136055" cy="6265762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Advantages: </a:t>
                </a:r>
                <a:r>
                  <a:rPr lang="en-IN" dirty="0">
                    <a:latin typeface="Arial Black" panose="020B0A04020102020204" pitchFamily="34" charset="0"/>
                  </a:rPr>
                  <a:t>Handles sequences, Shares parameters across time, Learns contextual dependencies 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Limitations: </a:t>
                </a:r>
                <a:r>
                  <a:rPr lang="en-IN" b="1" dirty="0">
                    <a:latin typeface="Arial Black" panose="020B0A04020102020204" pitchFamily="34" charset="0"/>
                  </a:rPr>
                  <a:t>Vanishing Gradient Problem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During backpropagation: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IN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 becomes extremely small. The model forgets long-range information.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Exploding Gradient: </a:t>
                </a:r>
                <a:r>
                  <a:rPr lang="en-IN" dirty="0">
                    <a:latin typeface="Arial Black" panose="020B0A04020102020204" pitchFamily="34" charset="0"/>
                  </a:rPr>
                  <a:t>Gradients become excessively large. Training becomes unstable.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just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Poor Long-Term Memory, </a:t>
                </a:r>
                <a:r>
                  <a:rPr lang="en-IN" dirty="0">
                    <a:latin typeface="Arial Black" panose="020B0A04020102020204" pitchFamily="34" charset="0"/>
                  </a:rPr>
                  <a:t>RNN struggles with long sentences.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7B4485B-89CE-8119-2C49-52C2DEE4C4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465778"/>
                <a:ext cx="12136055" cy="6265762"/>
              </a:xfrm>
              <a:blipFill>
                <a:blip r:embed="rId2"/>
                <a:stretch>
                  <a:fillRect l="-753" r="-7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311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AF4F9-82CB-61AD-83FA-15328BBB5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CD2A-3249-7C60-AA7C-0E06529C9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Long Short-Term Memory (LSTM)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03DDA-333F-FAA7-D417-0F6E57F9CB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65778"/>
            <a:ext cx="12136055" cy="6265762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highlight>
                <a:srgbClr val="FFFF00"/>
              </a:highlight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Arial Black" panose="020B0A04020102020204" pitchFamily="34" charset="0"/>
              </a:rPr>
              <a:t>LSTM was introduced by Sepp Hochreiter and Jürgen </a:t>
            </a:r>
            <a:r>
              <a:rPr lang="en-US" b="1" dirty="0" err="1">
                <a:latin typeface="Arial Black" panose="020B0A04020102020204" pitchFamily="34" charset="0"/>
              </a:rPr>
              <a:t>Schmidhuber</a:t>
            </a:r>
            <a:r>
              <a:rPr lang="en-US" b="1" dirty="0">
                <a:latin typeface="Arial Black" panose="020B0A04020102020204" pitchFamily="34" charset="0"/>
              </a:rPr>
              <a:t> (1997).  LSTM solves the long-term dependency problem.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Arial Black" panose="020B0A04020102020204" pitchFamily="34" charset="0"/>
              </a:rPr>
              <a:t>Core Idea:  Maintain a memory cell: </a:t>
            </a:r>
            <a:r>
              <a:rPr lang="en-US" b="1" dirty="0" err="1">
                <a:latin typeface="Arial Black" panose="020B0A04020102020204" pitchFamily="34" charset="0"/>
              </a:rPr>
              <a:t>c_t</a:t>
            </a:r>
            <a:r>
              <a:rPr lang="en-US" b="1" dirty="0">
                <a:latin typeface="Arial Black" panose="020B0A04020102020204" pitchFamily="34" charset="0"/>
              </a:rPr>
              <a:t>  that carries information across long sequences.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4557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620A-A518-4542-6AB3-E62B8291D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740B-EAFD-ABBA-5E43-3A45381E7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Long Short-Term Memory (LSTM) -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2D27BD-0BDC-B453-AB86-69C5B14F48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3" y="820882"/>
            <a:ext cx="11558675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957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3B310-406D-5025-07F9-2C893A1C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7EAE5-A086-3018-DCEE-A612E7036B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919" y="-21602"/>
            <a:ext cx="11864050" cy="613840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Arial Black" panose="020B0A04020102020204" pitchFamily="34" charset="0"/>
              </a:rPr>
              <a:t>LSTM Components: </a:t>
            </a:r>
            <a:r>
              <a:rPr lang="en-IN" sz="2400" dirty="0">
                <a:latin typeface="Arial Black" panose="020B0A04020102020204" pitchFamily="34" charset="0"/>
              </a:rPr>
              <a:t>Forget Gate, Input Gate, Cell State, Output Gate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AF29EF4-2B22-DBB0-5129-219C7CEEB5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098058"/>
                  </p:ext>
                </p:extLst>
              </p:nvPr>
            </p:nvGraphicFramePr>
            <p:xfrm>
              <a:off x="219919" y="933855"/>
              <a:ext cx="11278175" cy="52475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834566">
                      <a:extLst>
                        <a:ext uri="{9D8B030D-6E8A-4147-A177-3AD203B41FA5}">
                          <a16:colId xmlns:a16="http://schemas.microsoft.com/office/drawing/2014/main" val="295380770"/>
                        </a:ext>
                      </a:extLst>
                    </a:gridCol>
                    <a:gridCol w="4776281">
                      <a:extLst>
                        <a:ext uri="{9D8B030D-6E8A-4147-A177-3AD203B41FA5}">
                          <a16:colId xmlns:a16="http://schemas.microsoft.com/office/drawing/2014/main" val="3337242051"/>
                        </a:ext>
                      </a:extLst>
                    </a:gridCol>
                    <a:gridCol w="3667328">
                      <a:extLst>
                        <a:ext uri="{9D8B030D-6E8A-4147-A177-3AD203B41FA5}">
                          <a16:colId xmlns:a16="http://schemas.microsoft.com/office/drawing/2014/main" val="3597344146"/>
                        </a:ext>
                      </a:extLst>
                    </a:gridCol>
                  </a:tblGrid>
                  <a:tr h="194656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Gate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Purpose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Computation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3253076812"/>
                      </a:ext>
                    </a:extLst>
                  </a:tr>
                  <a:tr h="5845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Forget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Determines what information to remove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𝑼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25952126"/>
                      </a:ext>
                    </a:extLst>
                  </a:tr>
                  <a:tr h="584574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Input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Determines what new information to store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𝑼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2961036481"/>
                      </a:ext>
                    </a:extLst>
                  </a:tr>
                  <a:tr h="7828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Candidate Cell State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Creates a new Candidate value that can be added to the cell state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𝐭𝐚𝐧𝐡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𝑼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3687548814"/>
                      </a:ext>
                    </a:extLst>
                  </a:tr>
                  <a:tr h="98111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Cell state update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Update the cell state by combining the new and old states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⊙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⊙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2404206951"/>
                      </a:ext>
                    </a:extLst>
                  </a:tr>
                  <a:tr h="78284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Output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Decides what part of the cell state should be output as a hidden state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𝑾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𝑼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𝒐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b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</a:br>
                          <a:endParaRPr lang="en-IN" sz="1800" kern="100" dirty="0">
                            <a:effectLst/>
                            <a:latin typeface="Arial Black" panose="020B0A04020102020204" pitchFamily="34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1757401480"/>
                      </a:ext>
                    </a:extLst>
                  </a:tr>
                  <a:tr h="117938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Hidden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The new hidden state is the filtered version of the cell state controlled by the output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ℎ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⊙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tanh</m:t>
                                </m:r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b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</a:br>
                          <a:endParaRPr lang="en-IN" sz="1800" kern="100" dirty="0">
                            <a:effectLst/>
                            <a:latin typeface="Arial Black" panose="020B0A04020102020204" pitchFamily="34" charset="0"/>
                          </a:endParaRPr>
                        </a:p>
                        <a:p>
                          <a:pPr algn="l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9891443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AF29EF4-2B22-DBB0-5129-219C7CEEB54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66098058"/>
                  </p:ext>
                </p:extLst>
              </p:nvPr>
            </p:nvGraphicFramePr>
            <p:xfrm>
              <a:off x="219919" y="933855"/>
              <a:ext cx="11278175" cy="5247523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834566">
                      <a:extLst>
                        <a:ext uri="{9D8B030D-6E8A-4147-A177-3AD203B41FA5}">
                          <a16:colId xmlns:a16="http://schemas.microsoft.com/office/drawing/2014/main" val="295380770"/>
                        </a:ext>
                      </a:extLst>
                    </a:gridCol>
                    <a:gridCol w="4776281">
                      <a:extLst>
                        <a:ext uri="{9D8B030D-6E8A-4147-A177-3AD203B41FA5}">
                          <a16:colId xmlns:a16="http://schemas.microsoft.com/office/drawing/2014/main" val="3337242051"/>
                        </a:ext>
                      </a:extLst>
                    </a:gridCol>
                    <a:gridCol w="3667328">
                      <a:extLst>
                        <a:ext uri="{9D8B030D-6E8A-4147-A177-3AD203B41FA5}">
                          <a16:colId xmlns:a16="http://schemas.microsoft.com/office/drawing/2014/main" val="3597344146"/>
                        </a:ext>
                      </a:extLst>
                    </a:gridCol>
                  </a:tblGrid>
                  <a:tr h="2967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Gate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Purpose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Computation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extLst>
                      <a:ext uri="{0D108BD9-81ED-4DB2-BD59-A6C34878D82A}">
                        <a16:rowId xmlns:a16="http://schemas.microsoft.com/office/drawing/2014/main" val="3253076812"/>
                      </a:ext>
                    </a:extLst>
                  </a:tr>
                  <a:tr h="6122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Forget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Determines what information to remove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3" marR="55343" marT="0" marB="0">
                        <a:blipFill>
                          <a:blip r:embed="rId2"/>
                          <a:stretch>
                            <a:fillRect l="-207641" t="-58000" r="-664" b="-7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52126"/>
                      </a:ext>
                    </a:extLst>
                  </a:tr>
                  <a:tr h="612267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Input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Determines what new information to store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3" marR="55343" marT="0" marB="0">
                        <a:blipFill>
                          <a:blip r:embed="rId2"/>
                          <a:stretch>
                            <a:fillRect l="-207641" t="-156436" r="-664" b="-6079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036481"/>
                      </a:ext>
                    </a:extLst>
                  </a:tr>
                  <a:tr h="782845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Candidate Cell State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Creates a new Candidate value that can be added to the cell state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3" marR="55343" marT="0" marB="0">
                        <a:blipFill>
                          <a:blip r:embed="rId2"/>
                          <a:stretch>
                            <a:fillRect l="-207641" t="-200775" r="-664" b="-3759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7548814"/>
                      </a:ext>
                    </a:extLst>
                  </a:tr>
                  <a:tr h="98111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Cell state update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Update the cell state by combining the new and old states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3" marR="55343" marT="0" marB="0">
                        <a:blipFill>
                          <a:blip r:embed="rId2"/>
                          <a:stretch>
                            <a:fillRect l="-207641" t="-240994" r="-664" b="-2012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04206951"/>
                      </a:ext>
                    </a:extLst>
                  </a:tr>
                  <a:tr h="78284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Output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Decides what part of the cell state should be output as a hidden state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3" marR="55343" marT="0" marB="0">
                        <a:blipFill>
                          <a:blip r:embed="rId2"/>
                          <a:stretch>
                            <a:fillRect l="-207641" t="-428906" r="-664" b="-1531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7401480"/>
                      </a:ext>
                    </a:extLst>
                  </a:tr>
                  <a:tr h="1179385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Hidden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The new hidden state is the filtered version of the cell state controlled by the output gate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55343" marR="55343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343" marR="55343" marT="0" marB="0">
                        <a:blipFill>
                          <a:blip r:embed="rId2"/>
                          <a:stretch>
                            <a:fillRect l="-207641" t="-348969" r="-664" b="-10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891443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8823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E4893-604E-27B8-42C2-B1C9A55D6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7447D-A697-9AC1-7C01-B5573BCDE7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107961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Long Short-Term Memory (LSTM) –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Advantages and 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BFEC2D-FD9C-C92D-FF89-2CB125F47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0238"/>
            <a:ext cx="12136055" cy="501947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highlight>
                  <a:srgbClr val="FFFF00"/>
                </a:highlight>
                <a:latin typeface="Arial Black" panose="020B0A04020102020204" pitchFamily="34" charset="0"/>
              </a:rPr>
              <a:t>Advantages: </a:t>
            </a:r>
            <a:r>
              <a:rPr lang="en-US" b="1" dirty="0">
                <a:latin typeface="Arial Black" panose="020B0A04020102020204" pitchFamily="34" charset="0"/>
              </a:rPr>
              <a:t>Learns long-range dependencies, Solves vanishing gradient problem, Excellent for sequence modelling </a:t>
            </a: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endParaRPr lang="en-US" b="1" dirty="0">
              <a:latin typeface="Arial Black" panose="020B0A04020102020204" pitchFamily="34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highlight>
                  <a:srgbClr val="FFFF00"/>
                </a:highlight>
                <a:latin typeface="Arial Black" panose="020B0A04020102020204" pitchFamily="34" charset="0"/>
              </a:rPr>
              <a:t>Limitations:  </a:t>
            </a:r>
            <a:r>
              <a:rPr lang="en-US" b="1" dirty="0">
                <a:latin typeface="Arial Black" panose="020B0A04020102020204" pitchFamily="34" charset="0"/>
              </a:rPr>
              <a:t>Large parameter count, Slow training, Sequential computation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5067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65E7B-DBCD-E3D5-7B76-09C7D6F2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3D82E-DF1D-3562-DE71-F2E1B40AE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7003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 GRU (Gated Recurrent Unit)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C4EAA-801B-556E-2846-314490CD8ACE}"/>
              </a:ext>
            </a:extLst>
          </p:cNvPr>
          <p:cNvSpPr txBox="1"/>
          <p:nvPr/>
        </p:nvSpPr>
        <p:spPr>
          <a:xfrm>
            <a:off x="486384" y="1386829"/>
            <a:ext cx="114202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Arial Black" panose="020B0A04020102020204" pitchFamily="34" charset="0"/>
              </a:rPr>
              <a:t>(GRU is often what is meant in language-model evolution; GRU was introduced by </a:t>
            </a:r>
            <a:r>
              <a:rPr lang="en-US" sz="2400" dirty="0" err="1">
                <a:latin typeface="Arial Black" panose="020B0A04020102020204" pitchFamily="34" charset="0"/>
              </a:rPr>
              <a:t>Kyunghyun</a:t>
            </a:r>
            <a:r>
              <a:rPr lang="en-US" sz="2400" dirty="0">
                <a:latin typeface="Arial Black" panose="020B0A04020102020204" pitchFamily="34" charset="0"/>
              </a:rPr>
              <a:t> Cho and colleagues. GRU simplifies LSTM while maintaining performance.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endParaRPr lang="en-US" sz="2400" dirty="0">
              <a:latin typeface="Arial Black" panose="020B0A040201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Arial Black" panose="020B0A04020102020204" pitchFamily="34" charset="0"/>
              </a:rPr>
              <a:t>GRU Architecture Contains: Update Gate and Reset Gate </a:t>
            </a:r>
          </a:p>
        </p:txBody>
      </p:sp>
    </p:spTree>
    <p:extLst>
      <p:ext uri="{BB962C8B-B14F-4D97-AF65-F5344CB8AC3E}">
        <p14:creationId xmlns:p14="http://schemas.microsoft.com/office/powerpoint/2010/main" val="2619714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FF3F1-1297-45D4-4BD1-E9FD71EC1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DDD93-9285-54FA-C25D-7B0E94DBF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680937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GRU (Gated Recurrent Unit) -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B1FBF6-2CF8-055C-507A-31D44A0D1F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6" y="924127"/>
            <a:ext cx="12108873" cy="582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810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28C8-2C82-04E9-B32A-1CC8356F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C8D30-BC1C-9660-EA87-62C6DFE79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9183"/>
            <a:ext cx="11864050" cy="77821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GRU –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AFE8AEA-3310-97CB-9A55-81740420EC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522437"/>
                  </p:ext>
                </p:extLst>
              </p:nvPr>
            </p:nvGraphicFramePr>
            <p:xfrm>
              <a:off x="163975" y="925896"/>
              <a:ext cx="11864049" cy="395541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766261">
                      <a:extLst>
                        <a:ext uri="{9D8B030D-6E8A-4147-A177-3AD203B41FA5}">
                          <a16:colId xmlns:a16="http://schemas.microsoft.com/office/drawing/2014/main" val="532249149"/>
                        </a:ext>
                      </a:extLst>
                    </a:gridCol>
                    <a:gridCol w="4705977">
                      <a:extLst>
                        <a:ext uri="{9D8B030D-6E8A-4147-A177-3AD203B41FA5}">
                          <a16:colId xmlns:a16="http://schemas.microsoft.com/office/drawing/2014/main" val="2868240371"/>
                        </a:ext>
                      </a:extLst>
                    </a:gridCol>
                    <a:gridCol w="4391811">
                      <a:extLst>
                        <a:ext uri="{9D8B030D-6E8A-4147-A177-3AD203B41FA5}">
                          <a16:colId xmlns:a16="http://schemas.microsoft.com/office/drawing/2014/main" val="1195330554"/>
                        </a:ext>
                      </a:extLst>
                    </a:gridCol>
                  </a:tblGrid>
                  <a:tr h="223188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Gate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Purpose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Computation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21548592"/>
                      </a:ext>
                    </a:extLst>
                  </a:tr>
                  <a:tr h="806256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Update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Decides on how much of the past information to keep</a:t>
                          </a:r>
                        </a:p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000" b="1" i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𝛔</m:t>
                                </m:r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IN" sz="2000" b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</a:endParaRPr>
                        </a:p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380728247"/>
                      </a:ext>
                    </a:extLst>
                  </a:tr>
                  <a:tr h="571441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Reset 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Controls how much of the past information to forget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𝐫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000" b="1" i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𝛔</m:t>
                                </m:r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𝐫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𝐫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IN" sz="2000" b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715142957"/>
                      </a:ext>
                    </a:extLst>
                  </a:tr>
                  <a:tr h="45800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Candidate State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Creates new candidate values using the reset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000" b="1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000" b="1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IN" sz="2000" b="1" i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𝐭𝐚𝐧𝐡</m:t>
                                </m:r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⁡(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𝐖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𝐫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⊙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IN" sz="2000" b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))</m:t>
                                </m:r>
                              </m:oMath>
                            </m:oMathPara>
                          </a14:m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3825904730"/>
                      </a:ext>
                    </a:extLst>
                  </a:tr>
                  <a:tr h="581863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Final Hidden State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Combines old state and new candidate values using the update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r>
                                  <a:rPr lang="en-IN" sz="2000" b="1" i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)⊙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𝐡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  <m:r>
                                      <a:rPr lang="en-IN" sz="2000" b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𝐳</m:t>
                                    </m:r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  <m:r>
                                  <a:rPr lang="en-IN" sz="2000" b="1" kern="100">
                                    <a:effectLst/>
                                    <a:latin typeface="Cambria Math" panose="02040503050406030204" pitchFamily="18" charset="0"/>
                                  </a:rPr>
                                  <m:t>⊙</m:t>
                                </m:r>
                                <m:sSub>
                                  <m:sSubPr>
                                    <m:ctrlP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IN" sz="2000" b="1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000" b="1" i="1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𝐡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000" b="1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</a:endParaRPr>
                        </a:p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81253445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AFE8AEA-3310-97CB-9A55-81740420EC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8522437"/>
                  </p:ext>
                </p:extLst>
              </p:nvPr>
            </p:nvGraphicFramePr>
            <p:xfrm>
              <a:off x="163975" y="925896"/>
              <a:ext cx="11864049" cy="3955415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766261">
                      <a:extLst>
                        <a:ext uri="{9D8B030D-6E8A-4147-A177-3AD203B41FA5}">
                          <a16:colId xmlns:a16="http://schemas.microsoft.com/office/drawing/2014/main" val="532249149"/>
                        </a:ext>
                      </a:extLst>
                    </a:gridCol>
                    <a:gridCol w="4705977">
                      <a:extLst>
                        <a:ext uri="{9D8B030D-6E8A-4147-A177-3AD203B41FA5}">
                          <a16:colId xmlns:a16="http://schemas.microsoft.com/office/drawing/2014/main" val="2868240371"/>
                        </a:ext>
                      </a:extLst>
                    </a:gridCol>
                    <a:gridCol w="4391811">
                      <a:extLst>
                        <a:ext uri="{9D8B030D-6E8A-4147-A177-3AD203B41FA5}">
                          <a16:colId xmlns:a16="http://schemas.microsoft.com/office/drawing/2014/main" val="1195330554"/>
                        </a:ext>
                      </a:extLst>
                    </a:gridCol>
                  </a:tblGrid>
                  <a:tr h="32981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Gate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Purpose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Computation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extLst>
                      <a:ext uri="{0D108BD9-81ED-4DB2-BD59-A6C34878D82A}">
                        <a16:rowId xmlns:a16="http://schemas.microsoft.com/office/drawing/2014/main" val="2321548592"/>
                      </a:ext>
                    </a:extLst>
                  </a:tr>
                  <a:tr h="11324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Update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Decides on how much of the past information to keep</a:t>
                          </a:r>
                        </a:p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0319" t="-33333" r="-555" b="-2338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0728247"/>
                      </a:ext>
                    </a:extLst>
                  </a:tr>
                  <a:tr h="78193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Reset 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 dirty="0">
                              <a:effectLst/>
                              <a:latin typeface="Arial Black" panose="020B0A04020102020204" pitchFamily="34" charset="0"/>
                            </a:rPr>
                            <a:t>Controls how much of the past information to forget</a:t>
                          </a:r>
                          <a:endParaRPr lang="en-IN" sz="2000" b="1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0319" t="-192248" r="-555" b="-2372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15142957"/>
                      </a:ext>
                    </a:extLst>
                  </a:tr>
                  <a:tr h="68033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Candidate State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Creates new candidate values using the reset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0319" t="-336607" r="-555" b="-1732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5904730"/>
                      </a:ext>
                    </a:extLst>
                  </a:tr>
                  <a:tr h="1030859"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Final Hidden State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  <a:tabLst>
                              <a:tab pos="457200" algn="l"/>
                            </a:tabLst>
                          </a:pPr>
                          <a:r>
                            <a:rPr lang="en-IN" sz="2000" b="1" kern="100">
                              <a:effectLst/>
                              <a:latin typeface="Arial Black" panose="020B0A04020102020204" pitchFamily="34" charset="0"/>
                            </a:rPr>
                            <a:t>Combines old state and new candidate values using the update gate</a:t>
                          </a:r>
                          <a:endParaRPr lang="en-IN" sz="2000" b="1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blipFill>
                          <a:blip r:embed="rId2"/>
                          <a:stretch>
                            <a:fillRect l="-170319" t="-289349" r="-555" b="-14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1253445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0766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7CC59-DFB0-8942-4C85-3F996550B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0C97-3858-E4E4-826C-05236FC7AC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1079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GRU – Advantages and Limitations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69876-95A8-E0DF-7F72-6992E8844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0238"/>
            <a:ext cx="12136055" cy="501947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Arial Black" panose="020B0A04020102020204" pitchFamily="34" charset="0"/>
              </a:rPr>
              <a:t>Advantages: Fewer parameters than LSTM, Faster training, Comparable performance </a:t>
            </a:r>
            <a:r>
              <a:rPr lang="en-IN" dirty="0">
                <a:latin typeface="Arial Black" panose="020B0A04020102020204" pitchFamily="34" charset="0"/>
              </a:rPr>
              <a:t> 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131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E525-BBAF-C01D-8888-5D2FB4E1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DAEB3-4306-A34B-3AE0-3C2A003128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107961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Comparison: RNN vs LSTM vs GRU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9E1F3B-D1B7-A41A-7F40-1B386C7C0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32707"/>
              </p:ext>
            </p:extLst>
          </p:nvPr>
        </p:nvGraphicFramePr>
        <p:xfrm>
          <a:off x="163975" y="1468877"/>
          <a:ext cx="11864050" cy="48541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25923">
                  <a:extLst>
                    <a:ext uri="{9D8B030D-6E8A-4147-A177-3AD203B41FA5}">
                      <a16:colId xmlns:a16="http://schemas.microsoft.com/office/drawing/2014/main" val="713358748"/>
                    </a:ext>
                  </a:extLst>
                </a:gridCol>
                <a:gridCol w="2052536">
                  <a:extLst>
                    <a:ext uri="{9D8B030D-6E8A-4147-A177-3AD203B41FA5}">
                      <a16:colId xmlns:a16="http://schemas.microsoft.com/office/drawing/2014/main" val="3443463873"/>
                    </a:ext>
                  </a:extLst>
                </a:gridCol>
                <a:gridCol w="2714017">
                  <a:extLst>
                    <a:ext uri="{9D8B030D-6E8A-4147-A177-3AD203B41FA5}">
                      <a16:colId xmlns:a16="http://schemas.microsoft.com/office/drawing/2014/main" val="699939159"/>
                    </a:ext>
                  </a:extLst>
                </a:gridCol>
                <a:gridCol w="2971574">
                  <a:extLst>
                    <a:ext uri="{9D8B030D-6E8A-4147-A177-3AD203B41FA5}">
                      <a16:colId xmlns:a16="http://schemas.microsoft.com/office/drawing/2014/main" val="3873017238"/>
                    </a:ext>
                  </a:extLst>
                </a:gridCol>
              </a:tblGrid>
              <a:tr h="69344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Feature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RNN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LSTM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GRU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5227661"/>
                  </a:ext>
                </a:extLst>
              </a:tr>
              <a:tr h="6934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Memory Cell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No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Yes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No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39114357"/>
                  </a:ext>
                </a:extLst>
              </a:tr>
              <a:tr h="6934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Gates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No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81915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8708061"/>
                  </a:ext>
                </a:extLst>
              </a:tr>
              <a:tr h="6934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Long-Term Dependency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Poor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Excellent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Very Good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59169166"/>
                  </a:ext>
                </a:extLst>
              </a:tr>
              <a:tr h="6934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Parameters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Low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High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Medium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42637344"/>
                  </a:ext>
                </a:extLst>
              </a:tr>
              <a:tr h="6934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Training Speed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Fast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Slow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Faster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35154696"/>
                  </a:ext>
                </a:extLst>
              </a:tr>
              <a:tr h="69344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Performance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>
                          <a:effectLst/>
                          <a:latin typeface="Arial Black" panose="020B0A04020102020204" pitchFamily="34" charset="0"/>
                        </a:rPr>
                        <a:t>Moderate</a:t>
                      </a:r>
                      <a:endParaRPr lang="en-IN" sz="24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High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400" kern="100" dirty="0">
                          <a:effectLst/>
                          <a:latin typeface="Arial Black" panose="020B0A04020102020204" pitchFamily="34" charset="0"/>
                        </a:rPr>
                        <a:t>High</a:t>
                      </a:r>
                      <a:endParaRPr lang="en-IN" sz="24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10575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6174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7484E-6E47-C787-F8A0-D16263FA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56978-A29E-B95F-B38C-4B6756B18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107961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Sequence-to-Sequence (Seq2Seq) Evolution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89C51-8654-15D5-35D8-0888115A39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420238"/>
            <a:ext cx="12136055" cy="5019472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latin typeface="Arial Black" panose="020B0A04020102020204" pitchFamily="34" charset="0"/>
              </a:rPr>
              <a:t>Seq2Seq models </a:t>
            </a:r>
            <a:r>
              <a:rPr lang="en-US" b="1" dirty="0" err="1">
                <a:latin typeface="Arial Black" panose="020B0A04020102020204" pitchFamily="34" charset="0"/>
              </a:rPr>
              <a:t>revolutionised</a:t>
            </a:r>
            <a:r>
              <a:rPr lang="en-US" b="1" dirty="0">
                <a:latin typeface="Arial Black" panose="020B0A04020102020204" pitchFamily="34" charset="0"/>
              </a:rPr>
              <a:t> machine translation and text generation.</a:t>
            </a: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8623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22079-8B18-FAD2-0CD1-954A63108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255EF-676E-95FE-BC16-39655A3C4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75" y="243191"/>
            <a:ext cx="11864050" cy="107961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Sequence-to-Sequence (Seq2Seq) </a:t>
            </a:r>
            <a:r>
              <a:rPr lang="en-US" sz="3600" b="1" dirty="0" err="1">
                <a:latin typeface="Arial Black" panose="020B0A04020102020204" pitchFamily="34" charset="0"/>
              </a:rPr>
              <a:t>Architetcure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BE3E2A-DE6C-3C18-3684-BFEFD571B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7" y="1402772"/>
            <a:ext cx="11383788" cy="5028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9352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4241F-E6D1-5CDF-E52F-090D906A8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B65A-EB43-AA44-E2FD-0C1F6814FD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94" y="243191"/>
            <a:ext cx="11959931" cy="107961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Sequence-to-Sequence (Seq2Seq)-  Encoder-Decoder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9444BA4-28AA-E6B4-AAE2-9699DD32FB3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0" y="1420238"/>
                <a:ext cx="12136055" cy="5019472"/>
              </a:xfrm>
            </p:spPr>
            <p:txBody>
              <a:bodyPr>
                <a:noAutofit/>
              </a:bodyPr>
              <a:lstStyle/>
              <a:p>
                <a:pPr marL="457200" indent="-457200" algn="just">
                  <a:buFont typeface="Wingdings" panose="05000000000000000000" pitchFamily="2" charset="2"/>
                  <a:buChar char="q"/>
                </a:pPr>
                <a:r>
                  <a:rPr lang="en-IN" sz="2800" b="1" dirty="0">
                    <a:latin typeface="Arial Black" panose="020B0A04020102020204" pitchFamily="34" charset="0"/>
                  </a:rPr>
                  <a:t>Encoder: </a:t>
                </a:r>
                <a:r>
                  <a:rPr lang="en-IN" sz="2800" dirty="0">
                    <a:latin typeface="Arial Black" panose="020B0A04020102020204" pitchFamily="34" charset="0"/>
                  </a:rPr>
                  <a:t>Reads source sequence.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and produces a context vector: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IN" sz="2800" b="1" dirty="0">
                  <a:latin typeface="Arial Black" panose="020B0A04020102020204" pitchFamily="34" charset="0"/>
                </a:endParaRPr>
              </a:p>
              <a:p>
                <a:pPr marL="457200" indent="-457200" algn="just">
                  <a:buFont typeface="Wingdings" panose="05000000000000000000" pitchFamily="2" charset="2"/>
                  <a:buChar char="q"/>
                </a:pPr>
                <a:r>
                  <a:rPr lang="en-IN" sz="2800" b="1" dirty="0">
                    <a:latin typeface="Arial Black" panose="020B0A04020102020204" pitchFamily="34" charset="0"/>
                  </a:rPr>
                  <a:t>Decoder: </a:t>
                </a:r>
                <a:r>
                  <a:rPr lang="en-IN" sz="2800" dirty="0">
                    <a:latin typeface="Arial Black" panose="020B0A04020102020204" pitchFamily="34" charset="0"/>
                  </a:rPr>
                  <a:t>Generates output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IN" sz="28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 based on the context vector.</a:t>
                </a:r>
              </a:p>
              <a:p>
                <a:pPr marL="457200" indent="-457200" algn="just">
                  <a:buFont typeface="Wingdings" panose="05000000000000000000" pitchFamily="2" charset="2"/>
                  <a:buChar char="q"/>
                </a:pPr>
                <a:r>
                  <a:rPr lang="en-IN" sz="2800" b="1" dirty="0">
                    <a:latin typeface="Arial Black" panose="020B0A04020102020204" pitchFamily="34" charset="0"/>
                  </a:rPr>
                  <a:t>Workflow:  </a:t>
                </a:r>
                <a:r>
                  <a:rPr lang="en-IN" sz="2800" dirty="0">
                    <a:latin typeface="Arial Black" panose="020B0A04020102020204" pitchFamily="34" charset="0"/>
                  </a:rPr>
                  <a:t>Input: "How are you?" Encoder produces: </a:t>
                </a:r>
                <a14:m>
                  <m:oMath xmlns:m="http://schemas.openxmlformats.org/officeDocument/2006/math">
                    <m:r>
                      <a:rPr lang="en-IN" sz="28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br>
                  <a:rPr lang="en-IN" sz="2800" i="1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marL="457200" indent="-457200" algn="just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en-US" sz="2800" dirty="0">
                    <a:latin typeface="Arial Black" panose="020B0A04020102020204" pitchFamily="34" charset="0"/>
                  </a:rPr>
                  <a:t>Decoder generates: Considers C and Generates Output Text “</a:t>
                </a:r>
                <a:r>
                  <a:rPr lang="en-US" b="1" dirty="0">
                    <a:latin typeface="Arial Black" panose="020B0A04020102020204" pitchFamily="34" charset="0"/>
                  </a:rPr>
                  <a:t>I am fine"</a:t>
                </a:r>
              </a:p>
              <a:p>
                <a:pPr marL="342900" indent="-342900" algn="just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b="1" dirty="0">
                  <a:latin typeface="Arial Black" panose="020B0A04020102020204" pitchFamily="34" charset="0"/>
                </a:endParaRPr>
              </a:p>
              <a:p>
                <a:pPr marL="447675" indent="-447675" algn="just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r>
                  <a:rPr lang="en-US" sz="2800" b="1" dirty="0">
                    <a:latin typeface="Arial Black" panose="020B0A04020102020204" pitchFamily="34" charset="0"/>
                  </a:rPr>
                  <a:t>Problem: A single context vector becomes a bottleneck for long sentences. Information is compressed.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9444BA4-28AA-E6B4-AAE2-9699DD32FB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0" y="1420238"/>
                <a:ext cx="12136055" cy="5019472"/>
              </a:xfrm>
              <a:blipFill>
                <a:blip r:embed="rId2"/>
                <a:stretch>
                  <a:fillRect l="-854" t="-2187" r="-10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87647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6477C-F7A0-CB87-F309-0DC7996E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98280-DDBC-C099-9086-345ED3C5F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94" y="243191"/>
            <a:ext cx="11959931" cy="632298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Attention Mechanisms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F23BD-20EF-B3C1-587C-72109CB2E7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19264"/>
            <a:ext cx="12136055" cy="5019472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Introduced to overcome the Seq2Seq bottleneck. Instead of one context vector, the decoder attends to all encoder states. 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Introduced to overcome the Seq2Seq bottleneck.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2800" b="1" dirty="0">
                <a:latin typeface="Arial Black" panose="020B0A04020102020204" pitchFamily="34" charset="0"/>
              </a:rPr>
              <a:t>Instead of one context vector: Decoder attends to all encoder states</a:t>
            </a: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6757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1340-9049-7DE3-A964-8E754C34A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E4660-6B2D-1B22-DBED-5A9B07D7C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0"/>
            <a:ext cx="11959931" cy="6442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Attention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9FBCFD-78B0-2317-D307-8D651BBF4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34" y="774122"/>
            <a:ext cx="12075966" cy="587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1293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3D42-8083-9CCC-CB19-42C5E6B20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188CA-8102-79B5-1001-EF3DD76584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26460"/>
            <a:ext cx="11959931" cy="58366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Attention Score Computation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BBFC5739-D600-74B6-9376-22B59D3FE471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10182" y="919264"/>
                <a:ext cx="11371634" cy="5019472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N" sz="3200" b="1" dirty="0">
                    <a:latin typeface="Arial Black" panose="020B0A04020102020204" pitchFamily="34" charset="0"/>
                  </a:rPr>
                  <a:t>Attention Score: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𝑠𝑐𝑜𝑟𝑒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sz="32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3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3200" dirty="0">
                  <a:latin typeface="Arial Black" panose="020B0A04020102020204" pitchFamily="34" charset="0"/>
                </a:endParaRPr>
              </a:p>
              <a:p>
                <a:pPr algn="just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sz="3200" i="1" dirty="0">
                    <a:latin typeface="Arial Black" panose="020B0A04020102020204" pitchFamily="34" charset="0"/>
                  </a:rPr>
                  <a:t>Score represents the </a:t>
                </a:r>
                <a:r>
                  <a:rPr lang="en-IN" sz="3200" b="1" i="1" dirty="0">
                    <a:latin typeface="Arial Black" panose="020B0A04020102020204" pitchFamily="34" charset="0"/>
                  </a:rPr>
                  <a:t>alignment score</a:t>
                </a:r>
                <a:r>
                  <a:rPr lang="en-IN" sz="3200" i="1" dirty="0">
                    <a:latin typeface="Arial Black" panose="020B0A04020102020204" pitchFamily="34" charset="0"/>
                  </a:rPr>
                  <a:t> (or attention score) between:</a:t>
                </a:r>
                <a:endParaRPr lang="en-IN" sz="3200" dirty="0">
                  <a:latin typeface="Arial Black" panose="020B0A04020102020204" pitchFamily="34" charset="0"/>
                </a:endParaRPr>
              </a:p>
              <a:p>
                <a:pPr marL="719138" indent="-358775" algn="just">
                  <a:buFont typeface="Wingdings" panose="05000000000000000000" pitchFamily="2" charset="2"/>
                  <a:buChar char="q"/>
                </a:pPr>
                <a:r>
                  <a:rPr lang="en-IN" sz="3200" b="1" i="1" dirty="0">
                    <a:latin typeface="Arial Black" panose="020B0A04020102020204" pitchFamily="34" charset="0"/>
                  </a:rPr>
                  <a:t>= Decoder hidden state at the previous time step </a:t>
                </a:r>
                <a:endParaRPr lang="en-IN" sz="3200" dirty="0">
                  <a:latin typeface="Arial Black" panose="020B0A04020102020204" pitchFamily="34" charset="0"/>
                </a:endParaRPr>
              </a:p>
              <a:p>
                <a:pPr marL="719138" lvl="0" indent="-358775" algn="just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3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32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IN" sz="32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sz="3200" b="1" i="1" dirty="0">
                    <a:latin typeface="Arial Black" panose="020B0A04020102020204" pitchFamily="34" charset="0"/>
                  </a:rPr>
                  <a:t>= E</a:t>
                </a:r>
                <a:r>
                  <a:rPr lang="en-IN" sz="3200" i="1" dirty="0">
                    <a:latin typeface="Arial Black" panose="020B0A04020102020204" pitchFamily="34" charset="0"/>
                  </a:rPr>
                  <a:t>ncoder hidden state at position </a:t>
                </a:r>
                <a14:m>
                  <m:oMath xmlns:m="http://schemas.openxmlformats.org/officeDocument/2006/math">
                    <m:r>
                      <a:rPr lang="en-IN" sz="3200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IN" sz="3200" dirty="0">
                  <a:latin typeface="Arial Black" panose="020B0A04020102020204" pitchFamily="34" charset="0"/>
                </a:endParaRPr>
              </a:p>
              <a:p>
                <a:pPr marL="342900" indent="-342900" algn="just">
                  <a:buFont typeface="Wingdings" panose="05000000000000000000" pitchFamily="2" charset="2"/>
                  <a:buChar char="q"/>
                </a:pPr>
                <a:r>
                  <a:rPr lang="en-IN" sz="3200" i="1" dirty="0">
                    <a:latin typeface="Arial Black" panose="020B0A04020102020204" pitchFamily="34" charset="0"/>
                  </a:rPr>
                  <a:t>The </a:t>
                </a:r>
                <a:r>
                  <a:rPr lang="en-IN" sz="3200" b="1" i="1" dirty="0">
                    <a:latin typeface="Arial Black" panose="020B0A04020102020204" pitchFamily="34" charset="0"/>
                  </a:rPr>
                  <a:t>score function</a:t>
                </a:r>
                <a:r>
                  <a:rPr lang="en-IN" sz="3200" i="1" dirty="0">
                    <a:latin typeface="Arial Black" panose="020B0A04020102020204" pitchFamily="34" charset="0"/>
                  </a:rPr>
                  <a:t> measures how relevant the encoder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3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3200" i="1" dirty="0">
                    <a:latin typeface="Arial Black" panose="020B0A04020102020204" pitchFamily="34" charset="0"/>
                  </a:rPr>
                  <a:t>is to generate the next output word at the decoder step.</a:t>
                </a:r>
                <a:endParaRPr lang="en-IN" sz="32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40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40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4000" dirty="0">
                    <a:latin typeface="Arial Black" panose="020B0A04020102020204" pitchFamily="34" charset="0"/>
                  </a:rPr>
                  <a:t> </a:t>
                </a: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BBFC5739-D600-74B6-9376-22B59D3FE4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10182" y="919264"/>
                <a:ext cx="11371634" cy="5019472"/>
              </a:xfrm>
              <a:blipFill>
                <a:blip r:embed="rId2"/>
                <a:stretch>
                  <a:fillRect l="-1340" t="-2187" r="-1340" b="-63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038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3E9E-B2FB-C58A-E124-D75F6034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32808-200B-AC50-4A28-F2E6E640F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26460"/>
            <a:ext cx="11959931" cy="58366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Attention Score Computing 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915FA-76EB-A102-0654-AF14BA586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82" y="919264"/>
            <a:ext cx="11371634" cy="5019472"/>
          </a:xfrm>
        </p:spPr>
        <p:txBody>
          <a:bodyPr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Arial Black" panose="020B0A04020102020204" pitchFamily="34" charset="0"/>
              </a:rPr>
              <a:t>Dot Product attention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Arial Black" panose="020B0A04020102020204" pitchFamily="34" charset="0"/>
              </a:rPr>
              <a:t>General Attention (Luong Attention)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IN" sz="3200" b="1" dirty="0">
                <a:latin typeface="Arial Black" panose="020B0A04020102020204" pitchFamily="34" charset="0"/>
              </a:rPr>
              <a:t>Additive Attention (</a:t>
            </a:r>
            <a:r>
              <a:rPr lang="en-IN" sz="3200" b="1" dirty="0" err="1">
                <a:latin typeface="Arial Black" panose="020B0A04020102020204" pitchFamily="34" charset="0"/>
              </a:rPr>
              <a:t>Bahdanau</a:t>
            </a:r>
            <a:r>
              <a:rPr lang="en-IN" sz="3200" b="1" dirty="0">
                <a:latin typeface="Arial Black" panose="020B0A04020102020204" pitchFamily="34" charset="0"/>
              </a:rPr>
              <a:t> Attention)</a:t>
            </a:r>
          </a:p>
          <a:p>
            <a:pPr algn="just"/>
            <a:endParaRPr lang="en-IN" sz="3200" b="1" dirty="0">
              <a:latin typeface="Arial Black" panose="020B0A04020102020204" pitchFamily="34" charset="0"/>
            </a:endParaRPr>
          </a:p>
          <a:p>
            <a:pPr algn="l"/>
            <a:endParaRPr lang="en-IN" sz="4000" b="1" dirty="0">
              <a:latin typeface="Arial Black" panose="020B0A04020102020204" pitchFamily="34" charset="0"/>
            </a:endParaRPr>
          </a:p>
          <a:p>
            <a:pPr algn="l"/>
            <a:endParaRPr lang="en-IN" sz="800" dirty="0">
              <a:latin typeface="Arial Black" panose="020B0A04020102020204" pitchFamily="34" charset="0"/>
            </a:endParaRPr>
          </a:p>
          <a:p>
            <a:pPr algn="l"/>
            <a:r>
              <a:rPr lang="en-IN" sz="4000" dirty="0">
                <a:latin typeface="Arial Black" panose="020B0A04020102020204" pitchFamily="34" charset="0"/>
              </a:rPr>
              <a:t> </a:t>
            </a: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6048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A5607-39CD-059D-B760-CAC69FFFA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C0522-0D23-6CDE-152D-18D26746A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93388"/>
            <a:ext cx="11959931" cy="58366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Computing the Attention Score through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dot product attention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FEC603A-ED41-048A-5072-041D0A49037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10181" y="1245140"/>
                <a:ext cx="11371634" cy="5019472"/>
              </a:xfrm>
            </p:spPr>
            <p:txBody>
              <a:bodyPr>
                <a:noAutofit/>
              </a:bodyPr>
              <a:lstStyle/>
              <a:p>
                <a:r>
                  <a:rPr lang="en-IN" dirty="0"/>
                  <a:t> 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= Decoder 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= Encoder state </a:t>
                </a:r>
              </a:p>
              <a:p>
                <a:pPr algn="l"/>
                <a:endParaRPr lang="en-IN" b="1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Example</a:t>
                </a: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0.4</m:t>
                            </m:r>
                          </m: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0.6</m:t>
                            </m:r>
                          </m:e>
                        </m:eqArr>
                      </m:e>
                    </m:d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                                    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0.5</m:t>
                            </m:r>
                          </m:e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0.7</m:t>
                            </m:r>
                          </m:e>
                        </m:eqArr>
                      </m:e>
                    </m:d>
                  </m:oMath>
                </a14:m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Then</a:t>
                </a:r>
              </a:p>
              <a:p>
                <a:pPr algn="l"/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=(0.4)(0.5)+(0.6)(0.7)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=0.20+0.42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=0.62</m:t>
                    </m:r>
                  </m:oMath>
                </a14:m>
                <a:br>
                  <a:rPr lang="en-IN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A higher value means stronger similarity.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just"/>
                <a:endParaRPr lang="en-IN" sz="32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40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4000" dirty="0">
                    <a:latin typeface="Arial Black" panose="020B0A04020102020204" pitchFamily="34" charset="0"/>
                  </a:rPr>
                  <a:t> </a:t>
                </a: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9FEC603A-ED41-048A-5072-041D0A4903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10181" y="1245140"/>
                <a:ext cx="11371634" cy="5019472"/>
              </a:xfrm>
              <a:blipFill>
                <a:blip r:embed="rId2"/>
                <a:stretch>
                  <a:fillRect l="-804" b="-31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799158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7C263-A158-A8DA-2E78-0AED6245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D2BB9-AF08-106D-0825-8932056B5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93387"/>
            <a:ext cx="11959931" cy="98249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Computing the Attention Score through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General Attention (Luong Attention)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00E3288-1FF2-2E1D-5DDE-3F35FC3307E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10181" y="1245140"/>
                <a:ext cx="11371634" cy="5019472"/>
              </a:xfrm>
            </p:spPr>
            <p:txBody>
              <a:bodyPr>
                <a:noAutofit/>
              </a:bodyPr>
              <a:lstStyle/>
              <a:p>
                <a:r>
                  <a:rPr lang="en-IN" dirty="0"/>
                  <a:t> 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Introduces a trainable weight matrix.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is learned during training.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Advantages: More flexible than the dot product, learns better alignments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 </a:t>
                </a:r>
              </a:p>
              <a:p>
                <a:pPr algn="just"/>
                <a:endParaRPr lang="en-IN" sz="32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40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4000" dirty="0">
                    <a:latin typeface="Arial Black" panose="020B0A04020102020204" pitchFamily="34" charset="0"/>
                  </a:rPr>
                  <a:t> </a:t>
                </a: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00E3288-1FF2-2E1D-5DDE-3F35FC330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10181" y="1245140"/>
                <a:ext cx="11371634" cy="5019472"/>
              </a:xfrm>
              <a:blipFill>
                <a:blip r:embed="rId2"/>
                <a:stretch>
                  <a:fillRect l="-10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0925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92A7-7126-0207-58D8-C81434B8A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AA5EA-688A-753D-EAA8-6BBF7816A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2" y="262647"/>
            <a:ext cx="11959931" cy="98249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600" b="1" dirty="0">
                <a:latin typeface="Arial Black" panose="020B0A04020102020204" pitchFamily="34" charset="0"/>
              </a:rPr>
              <a:t>Computing the Attention Score through </a:t>
            </a:r>
            <a:br>
              <a:rPr lang="en-US" sz="3600" b="1" dirty="0">
                <a:latin typeface="Arial Black" panose="020B0A04020102020204" pitchFamily="34" charset="0"/>
              </a:rPr>
            </a:br>
            <a:r>
              <a:rPr lang="en-US" sz="3600" b="1" dirty="0">
                <a:latin typeface="Arial Black" panose="020B0A04020102020204" pitchFamily="34" charset="0"/>
              </a:rPr>
              <a:t>Additive Attention (</a:t>
            </a:r>
            <a:r>
              <a:rPr lang="en-US" sz="3600" b="1" dirty="0" err="1">
                <a:latin typeface="Arial Black" panose="020B0A04020102020204" pitchFamily="34" charset="0"/>
              </a:rPr>
              <a:t>Bahdanau</a:t>
            </a:r>
            <a:r>
              <a:rPr lang="en-US" sz="3600" b="1" dirty="0">
                <a:latin typeface="Arial Black" panose="020B0A04020102020204" pitchFamily="34" charset="0"/>
              </a:rPr>
              <a:t> Attention)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36F1373-3C20-B078-07B1-E60BE638B87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10181" y="1245140"/>
                <a:ext cx="11371634" cy="5019472"/>
              </a:xfrm>
            </p:spPr>
            <p:txBody>
              <a:bodyPr>
                <a:noAutofit/>
              </a:bodyPr>
              <a:lstStyle/>
              <a:p>
                <a:r>
                  <a:rPr lang="en-IN" dirty="0"/>
                  <a:t> 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The most famous attention mechanism.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IN" sz="2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en-IN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m:rPr>
                          <m:sty m:val="p"/>
                        </m:rPr>
                        <a:rPr lang="en-IN" sz="2800">
                          <a:latin typeface="Cambria Math" panose="02040503050406030204" pitchFamily="18" charset="0"/>
                        </a:rPr>
                        <m:t>tanh</m:t>
                      </m:r>
                      <m:r>
                        <a:rPr lang="en-IN" sz="2800" i="1">
                          <a:latin typeface="Cambria Math" panose="02040503050406030204" pitchFamily="18" charset="0"/>
                        </a:rPr>
                        <m:t>⁡</m:t>
                      </m:r>
                      <m:d>
                        <m:dPr>
                          <m:sepChr m:val="+"/>
                          <m:ctrlPr>
                            <a:rPr lang="en-I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  <m:sub>
                              <m:r>
                                <a:rPr lang="en-IN" sz="28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Where</a:t>
                </a:r>
              </a:p>
              <a:p>
                <a:pPr algn="l"/>
                <a:r>
                  <a:rPr lang="en-IN" sz="2800" dirty="0">
                    <a:latin typeface="Arial Black" panose="020B0A04020102020204" pitchFamily="34" charset="0"/>
                  </a:rPr>
                  <a:t> 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= Decoder weight matrix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= Encoder weight matrix </a:t>
                </a:r>
              </a:p>
              <a:p>
                <a:pPr lvl="0" algn="l"/>
                <a14:m>
                  <m:oMath xmlns:m="http://schemas.openxmlformats.org/officeDocument/2006/math">
                    <m:sSub>
                      <m:sSubPr>
                        <m:ctrlPr>
                          <a:rPr lang="en-I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8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IN" sz="2800" dirty="0">
                    <a:latin typeface="Arial Black" panose="020B0A04020102020204" pitchFamily="34" charset="0"/>
                  </a:rPr>
                  <a:t>  = Attention vector</a:t>
                </a:r>
              </a:p>
              <a:p>
                <a:pPr algn="just"/>
                <a:endParaRPr lang="en-IN" sz="32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4000" b="1" dirty="0">
                  <a:latin typeface="Arial Black" panose="020B0A04020102020204" pitchFamily="34" charset="0"/>
                </a:endParaRPr>
              </a:p>
              <a:p>
                <a:pPr algn="l"/>
                <a:endParaRPr lang="en-IN" sz="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4000" dirty="0">
                    <a:latin typeface="Arial Black" panose="020B0A04020102020204" pitchFamily="34" charset="0"/>
                  </a:rPr>
                  <a:t> </a:t>
                </a: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36F1373-3C20-B078-07B1-E60BE638B8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10181" y="1245140"/>
                <a:ext cx="11371634" cy="5019472"/>
              </a:xfrm>
              <a:blipFill>
                <a:blip r:embed="rId2"/>
                <a:stretch>
                  <a:fillRect l="-10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78464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0FB6A-2C25-C8F4-63B6-C9B1C341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39BCF-E30D-A7FA-B575-4CDB3EC17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26460"/>
            <a:ext cx="11959931" cy="5836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</a:rPr>
              <a:t>Computing the Attention Weights and Context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042F8637-2223-FBCD-D34D-1DC25E2D701C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10182" y="919264"/>
                <a:ext cx="11371634" cy="5019472"/>
              </a:xfrm>
            </p:spPr>
            <p:txBody>
              <a:bodyPr>
                <a:noAutofit/>
              </a:bodyPr>
              <a:lstStyle/>
              <a:p>
                <a:pPr algn="l"/>
                <a:endParaRPr lang="en-IN" sz="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4000" b="1" dirty="0">
                    <a:latin typeface="Arial Black" panose="020B0A04020102020204" pitchFamily="34" charset="0"/>
                  </a:rPr>
                  <a:t>Attention Weights:</a:t>
                </a:r>
                <a14:m>
                  <m:oMath xmlns:m="http://schemas.openxmlformats.org/officeDocument/2006/math">
                    <m:r>
                      <a:rPr lang="en-IN" sz="4000" b="1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I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IN" sz="4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400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4000"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supHide m:val="on"/>
                            <m:ctrlPr>
                              <a:rPr lang="en-IN" sz="40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m:rPr>
                                <m:sty m:val="p"/>
                              </m:rPr>
                              <a:rPr lang="en-IN" sz="4000"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⁡(</m:t>
                            </m:r>
                          </m:e>
                        </m:nary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</m:sSub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sz="40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20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4000" b="1" dirty="0">
                    <a:latin typeface="Arial Black" panose="020B0A04020102020204" pitchFamily="34" charset="0"/>
                  </a:rPr>
                  <a:t>Context Vector:</a:t>
                </a:r>
                <a14:m>
                  <m:oMath xmlns:m="http://schemas.openxmlformats.org/officeDocument/2006/math">
                    <m:r>
                      <a:rPr lang="en-IN" sz="4000" b="1" i="0" smtClean="0">
                        <a:latin typeface="Cambria Math" panose="02040503050406030204" pitchFamily="18" charset="0"/>
                      </a:rPr>
                      <m:t>          </m:t>
                    </m:r>
                    <m:sSub>
                      <m:sSubPr>
                        <m:ctrlPr>
                          <a:rPr lang="en-I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4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4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4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IN" sz="4000" i="1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N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4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IN" sz="4000" dirty="0">
                  <a:latin typeface="Arial Black" panose="020B0A04020102020204" pitchFamily="34" charset="0"/>
                </a:endParaRPr>
              </a:p>
              <a:p>
                <a:pPr algn="just"/>
                <a:endParaRPr lang="en-IN" sz="4000" b="1" dirty="0">
                  <a:latin typeface="Arial Black" panose="020B0A04020102020204" pitchFamily="34" charset="0"/>
                </a:endParaRPr>
              </a:p>
              <a:p>
                <a:pPr algn="just"/>
                <a:r>
                  <a:rPr lang="en-IN" sz="4000" b="1" dirty="0">
                    <a:latin typeface="Arial Black" panose="020B0A04020102020204" pitchFamily="34" charset="0"/>
                  </a:rPr>
                  <a:t>Benefits: </a:t>
                </a:r>
                <a:r>
                  <a:rPr lang="en-IN" sz="4000" dirty="0">
                    <a:latin typeface="Arial Black" panose="020B0A04020102020204" pitchFamily="34" charset="0"/>
                  </a:rPr>
                  <a:t>Better translations, Long sentence handling, Interpretability </a:t>
                </a: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042F8637-2223-FBCD-D34D-1DC25E2D70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10182" y="919264"/>
                <a:ext cx="11371634" cy="5019472"/>
              </a:xfrm>
              <a:blipFill>
                <a:blip r:embed="rId2"/>
                <a:stretch>
                  <a:fillRect l="-1876" r="-1876" b="-14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431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82F1C-0197-0123-9F07-A1BBF487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1E6A1-319B-3A5D-ACCD-DB0911169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26460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62B8C-EEB4-1A5E-E9FF-2EE1435C9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182" y="1021406"/>
            <a:ext cx="11371634" cy="5019472"/>
          </a:xfrm>
        </p:spPr>
        <p:txBody>
          <a:bodyPr>
            <a:noAutofit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Arial Black" panose="020B0A04020102020204" pitchFamily="34" charset="0"/>
              </a:rPr>
              <a:t>Transformer Models: Published in the landmark paper, “Attention Is All You Need (2017)”. 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endParaRPr lang="en-US" sz="4000" b="1" dirty="0">
              <a:latin typeface="Arial Black" panose="020B0A04020102020204" pitchFamily="34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000" b="1" dirty="0">
                <a:latin typeface="Arial Black" panose="020B0A04020102020204" pitchFamily="34" charset="0"/>
              </a:rPr>
              <a:t>Transformers completely removed recurrence.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8754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C4681-8E79-3494-9FFF-561A44112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0CC9-CCAC-BCB7-1F22-80E12F5D54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126460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Transformers - Architecture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BFEE1C-31FD-0D0F-BFDC-B50916701C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25" y="540326"/>
            <a:ext cx="11647340" cy="6317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4216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1C7D7-8F51-153B-9ECA-D56F66CA5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6D42-D01D-756C-87BF-85435CCDF2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26460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latin typeface="Arial Black" panose="020B0A04020102020204" pitchFamily="34" charset="0"/>
                <a:ea typeface="+mn-ea"/>
                <a:cs typeface="+mn-cs"/>
              </a:rPr>
              <a:t>Main Components of Transformer Architecture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6A93E63-98BA-C5E6-7983-4E55225BE86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021406"/>
                <a:ext cx="11665783" cy="5710134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Key Idea:  </a:t>
                </a:r>
                <a:r>
                  <a:rPr lang="en-IN" dirty="0">
                    <a:latin typeface="Arial Black" panose="020B0A04020102020204" pitchFamily="34" charset="0"/>
                  </a:rPr>
                  <a:t>Instead of processing sequentially: RNN: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br>
                  <a:rPr lang="en-IN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Transformer: Processes all tokens simultaneously.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Main Components of Transformer Architecture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Input Embedding </a:t>
                </a: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Positional Encoding </a:t>
                </a: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Single Head Self Attention</a:t>
                </a: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Multi-Head Self-Attention </a:t>
                </a: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Feed Forward Network </a:t>
                </a: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Residual Connections </a:t>
                </a:r>
              </a:p>
              <a:p>
                <a:pPr marL="534988" lvl="0" indent="-534988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Layer Normalisation </a:t>
                </a:r>
              </a:p>
              <a:p>
                <a:pPr algn="just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66A93E63-98BA-C5E6-7983-4E55225BE8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021406"/>
                <a:ext cx="11665783" cy="5710134"/>
              </a:xfrm>
              <a:blipFill>
                <a:blip r:embed="rId2"/>
                <a:stretch>
                  <a:fillRect l="-784" t="-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75163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978A-8659-95EC-4DF4-FE2645A52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AA91-0049-9AA8-7717-ADEDFAFDDF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25292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Input Embedding -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C61308D-6969-D7EA-D0A2-FCF8A511BD3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Converts words into vectors</a:t>
                </a: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marL="447675"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𝐸𝑚𝑏𝑒𝑑𝑑𝑖𝑛𝑔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𝑤𝑜𝑟𝑑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𝑑𝑒𝑛𝑠𝑒</m:t>
                    </m:r>
                    <m:r>
                      <m:rPr>
                        <m:nor/>
                      </m:rPr>
                      <a:rPr lang="en-IN" i="0">
                        <a:latin typeface="Arial Black" panose="020B0A04020102020204" pitchFamily="34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𝑣𝑒𝑐𝑡𝑜𝑟</m:t>
                    </m:r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. </a:t>
                </a: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DC61308D-6969-D7EA-D0A2-FCF8A511B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  <a:blipFill>
                <a:blip r:embed="rId2"/>
                <a:stretch>
                  <a:fillRect l="-784" t="-17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15503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6E516-A636-7CC6-05FB-1751C0AA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ED34A-69DC-109B-20E0-51FF8A81E7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25292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Positional Embedding-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3381238-EFD1-ED8F-6522-3B36173CA7A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</p:spPr>
            <p:txBody>
              <a:bodyPr>
                <a:noAutofit/>
              </a:bodyPr>
              <a:lstStyle/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Positional Encoding: </a:t>
                </a:r>
                <a:r>
                  <a:rPr lang="en-IN" dirty="0">
                    <a:latin typeface="Arial Black" panose="020B0A04020102020204" pitchFamily="34" charset="0"/>
                  </a:rPr>
                  <a:t>Provides word-order information.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𝑃𝐸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𝑝𝑜𝑠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,2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𝑠𝑖𝑛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𝑃𝐸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𝑝𝑜𝑠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,2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+1)=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𝑐𝑜𝑠</m:t>
                    </m:r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𝑝𝑜𝑠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10000</m:t>
                                </m:r>
                              </m:e>
                              <m:sup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3381238-EFD1-ED8F-6522-3B36173CA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  <a:blipFill>
                <a:blip r:embed="rId2"/>
                <a:stretch>
                  <a:fillRect l="-6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261EB0-9179-B83E-5BF4-8470BB8B8C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734490"/>
              </p:ext>
            </p:extLst>
          </p:nvPr>
        </p:nvGraphicFramePr>
        <p:xfrm>
          <a:off x="838200" y="3240754"/>
          <a:ext cx="10515600" cy="28418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45468">
                  <a:extLst>
                    <a:ext uri="{9D8B030D-6E8A-4147-A177-3AD203B41FA5}">
                      <a16:colId xmlns:a16="http://schemas.microsoft.com/office/drawing/2014/main" val="3133960836"/>
                    </a:ext>
                  </a:extLst>
                </a:gridCol>
                <a:gridCol w="8270132">
                  <a:extLst>
                    <a:ext uri="{9D8B030D-6E8A-4147-A177-3AD203B41FA5}">
                      <a16:colId xmlns:a16="http://schemas.microsoft.com/office/drawing/2014/main" val="42667455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Variable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 Black" panose="020B0A04020102020204" pitchFamily="34" charset="0"/>
                        </a:rPr>
                        <a:t>Meaning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8396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(PE(pos,2i))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Positional encoding value at position (</a:t>
                      </a:r>
                      <a:r>
                        <a:rPr lang="en-IN" sz="1800" kern="100" dirty="0" err="1">
                          <a:effectLst/>
                          <a:latin typeface="Arial Black" panose="020B0A04020102020204" pitchFamily="34" charset="0"/>
                        </a:rPr>
                        <a:t>pos</a:t>
                      </a: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) and even dimension (2i)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9645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(PE(pos,2i+1))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 Black" panose="020B0A04020102020204" pitchFamily="34" charset="0"/>
                        </a:rPr>
                        <a:t>Positional encoding value at position (pos) and odd dimension (2i+1)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36685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(</a:t>
                      </a:r>
                      <a:r>
                        <a:rPr lang="en-IN" sz="1800" kern="100" dirty="0" err="1">
                          <a:effectLst/>
                          <a:latin typeface="Arial Black" panose="020B0A04020102020204" pitchFamily="34" charset="0"/>
                        </a:rPr>
                        <a:t>pos</a:t>
                      </a: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)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 Black" panose="020B0A04020102020204" pitchFamily="34" charset="0"/>
                        </a:rPr>
                        <a:t>Position of the token in the sequence (0, 1, 2, 3, ...)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9043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(</a:t>
                      </a:r>
                      <a:r>
                        <a:rPr lang="en-IN" sz="1800" kern="100" dirty="0" err="1">
                          <a:effectLst/>
                          <a:latin typeface="Arial Black" panose="020B0A04020102020204" pitchFamily="34" charset="0"/>
                        </a:rPr>
                        <a:t>i</a:t>
                      </a: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)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Index of the embedding dimension pair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2149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 Black" panose="020B0A04020102020204" pitchFamily="34" charset="0"/>
                        </a:rPr>
                        <a:t>(d)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Embedding dimension size ((d_{model}))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520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Arial Black" panose="020B0A04020102020204" pitchFamily="34" charset="0"/>
                        </a:rPr>
                        <a:t>(10000)</a:t>
                      </a:r>
                      <a:endParaRPr lang="en-IN" sz="18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Arial Black" panose="020B0A04020102020204" pitchFamily="34" charset="0"/>
                        </a:rPr>
                        <a:t>Constant used to generate different frequencies</a:t>
                      </a:r>
                      <a:endParaRPr lang="en-IN" sz="18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39912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89159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8A3F1-730E-B14F-F4A4-9FAECF754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0C22A-84C6-B6F6-E1EB-19224C523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25292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Positional Embedding-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DBE9DA2-64D6-2BD0-5174-902C7B665197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</p:spPr>
            <p:txBody>
              <a:bodyPr>
                <a:noAutofit/>
              </a:bodyPr>
              <a:lstStyle/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?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  -  represents the </a:t>
                </a:r>
                <a:r>
                  <a:rPr lang="en-IN" b="1" dirty="0">
                    <a:latin typeface="Arial Black" panose="020B0A04020102020204" pitchFamily="34" charset="0"/>
                  </a:rPr>
                  <a:t>dimension index</a:t>
                </a:r>
                <a:r>
                  <a:rPr lang="en-IN" dirty="0">
                    <a:latin typeface="Arial Black" panose="020B0A04020102020204" pitchFamily="34" charset="0"/>
                  </a:rPr>
                  <a:t> of the embedding vector.</a:t>
                </a: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Suppose: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=512, 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then the embedding vector has 512 dimensions: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511</m:t>
                            </m:r>
                          </m:sub>
                        </m:sSub>
                      </m:e>
                    </m:d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dirty="0">
                    <a:latin typeface="Arial Black" panose="020B0A04020102020204" pitchFamily="34" charset="0"/>
                  </a:rPr>
                  <a:t> The positional encoding is applied dimension-wise.</a:t>
                </a: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ADBE9DA2-64D6-2BD0-5174-902C7B665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  <a:blipFill>
                <a:blip r:embed="rId3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A52E91-150A-C6CB-41FD-DEF342817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3653691"/>
              </p:ext>
            </p:extLst>
          </p:nvPr>
        </p:nvGraphicFramePr>
        <p:xfrm>
          <a:off x="2063049" y="3780327"/>
          <a:ext cx="8378810" cy="26985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2874">
                  <a:extLst>
                    <a:ext uri="{9D8B030D-6E8A-4147-A177-3AD203B41FA5}">
                      <a16:colId xmlns:a16="http://schemas.microsoft.com/office/drawing/2014/main" val="2486659154"/>
                    </a:ext>
                  </a:extLst>
                </a:gridCol>
                <a:gridCol w="2969342">
                  <a:extLst>
                    <a:ext uri="{9D8B030D-6E8A-4147-A177-3AD203B41FA5}">
                      <a16:colId xmlns:a16="http://schemas.microsoft.com/office/drawing/2014/main" val="3823963548"/>
                    </a:ext>
                  </a:extLst>
                </a:gridCol>
                <a:gridCol w="3716594">
                  <a:extLst>
                    <a:ext uri="{9D8B030D-6E8A-4147-A177-3AD203B41FA5}">
                      <a16:colId xmlns:a16="http://schemas.microsoft.com/office/drawing/2014/main" val="3030036761"/>
                    </a:ext>
                  </a:extLst>
                </a:gridCol>
              </a:tblGrid>
              <a:tr h="6053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 err="1">
                          <a:effectLst/>
                          <a:latin typeface="Arial Black" panose="020B0A04020102020204" pitchFamily="34" charset="0"/>
                        </a:rPr>
                        <a:t>i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Even  Dimension (2i)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Odd Dimension (2i+1)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8235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0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0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47239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1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86909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2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4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5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212217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3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6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7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747495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...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...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...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7399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255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510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511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56725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14104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421CE-1E54-172A-DE03-3A630544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3236-10DB-40C8-728A-40A370F66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25292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Positional Embedding-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B9A383D-0425-0296-BCA7-CD4D770A1CE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</p:spPr>
            <p:txBody>
              <a:bodyPr>
                <a:noAutofit/>
              </a:bodyPr>
              <a:lstStyle/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What is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?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is the embedding size (also 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𝒎𝒐𝒅𝒆𝒍</m:t>
                        </m:r>
                      </m:sub>
                    </m:sSub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).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Typical values: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b="1" dirty="0"/>
                  <a:t> </a:t>
                </a:r>
                <a:endParaRPr lang="en-IN" dirty="0"/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B9A383D-0425-0296-BCA7-CD4D770A1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  <a:blipFill>
                <a:blip r:embed="rId3"/>
                <a:stretch>
                  <a:fillRect l="-7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66A60C-FC79-3B87-3CA6-502F46CCC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366739"/>
              </p:ext>
            </p:extLst>
          </p:nvPr>
        </p:nvGraphicFramePr>
        <p:xfrm>
          <a:off x="245806" y="3345782"/>
          <a:ext cx="11405420" cy="20932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65734">
                  <a:extLst>
                    <a:ext uri="{9D8B030D-6E8A-4147-A177-3AD203B41FA5}">
                      <a16:colId xmlns:a16="http://schemas.microsoft.com/office/drawing/2014/main" val="342245900"/>
                    </a:ext>
                  </a:extLst>
                </a:gridCol>
                <a:gridCol w="5239686">
                  <a:extLst>
                    <a:ext uri="{9D8B030D-6E8A-4147-A177-3AD203B41FA5}">
                      <a16:colId xmlns:a16="http://schemas.microsoft.com/office/drawing/2014/main" val="3525883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Transformer Model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(d_{model})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85215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Original Transformer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512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99049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BERT Base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768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84605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BERT Large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1024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29231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GPT-2 Small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768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80826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>
                          <a:effectLst/>
                          <a:latin typeface="Arial Black" panose="020B0A04020102020204" pitchFamily="34" charset="0"/>
                        </a:rPr>
                        <a:t>GPT-3</a:t>
                      </a:r>
                      <a:endParaRPr lang="en-IN" sz="20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457200" algn="l"/>
                        </a:tabLst>
                      </a:pPr>
                      <a:r>
                        <a:rPr lang="en-IN" sz="2000" kern="100" dirty="0">
                          <a:effectLst/>
                          <a:latin typeface="Arial Black" panose="020B0A04020102020204" pitchFamily="34" charset="0"/>
                        </a:rPr>
                        <a:t>12288</a:t>
                      </a:r>
                      <a:endParaRPr lang="en-IN" sz="20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696462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84519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2D9D-ED40-7422-54BA-992F0EE4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D3A90-8E97-4218-ECE4-C4DBAACA1D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525292"/>
            <a:ext cx="11959931" cy="58366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000" b="1" dirty="0">
                <a:latin typeface="Arial Black" panose="020B0A04020102020204" pitchFamily="34" charset="0"/>
                <a:ea typeface="+mn-ea"/>
                <a:cs typeface="+mn-cs"/>
              </a:rPr>
              <a:t>Positional Embedding-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0FA1236-4232-2F72-E3BF-DB3ED09716D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N" b="1" dirty="0">
                    <a:latin typeface="Arial Black" panose="020B0A04020102020204" pitchFamily="34" charset="0"/>
                  </a:rPr>
                  <a:t>For example: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𝟓𝟏𝟐</m:t>
                    </m:r>
                  </m:oMath>
                </a14:m>
                <a:r>
                  <a:rPr lang="en-IN" b="1" i="1" dirty="0">
                    <a:latin typeface="Arial Black" panose="020B0A04020102020204" pitchFamily="34" charset="0"/>
                  </a:rPr>
                  <a:t> </a:t>
                </a:r>
                <a:r>
                  <a:rPr lang="en-IN" b="1" dirty="0">
                    <a:latin typeface="Arial Black" panose="020B0A04020102020204" pitchFamily="34" charset="0"/>
                  </a:rPr>
                  <a:t>means every word is represented by a 512-dimensional vector.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Numerical Example</a:t>
                </a: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marL="360363"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Suppose: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𝒑𝒐𝒔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IN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𝒅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𝟓𝟏𝟐</m:t>
                    </m:r>
                  </m:oMath>
                </a14:m>
                <a:r>
                  <a:rPr lang="en-IN" b="1" i="1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𝑷𝑬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𝐬𝐢𝐧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𝟏𝟎𝟎𝟎𝟎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𝟓𝟏𝟐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IN" dirty="0"/>
              </a:p>
              <a:p>
                <a:pPr marL="360363" algn="l"/>
                <a:r>
                  <a:rPr lang="en-IN" b="1" dirty="0"/>
                  <a:t>Since: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𝟏𝟎𝟎𝟎𝟎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r>
                      <a:rPr lang="en-I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𝑷𝑬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𝐬𝐢𝐧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𝟗𝟓𝟖𝟗</m:t>
                    </m:r>
                  </m:oMath>
                </a14:m>
                <a:endParaRPr lang="en-IN" b="1" i="1" dirty="0"/>
              </a:p>
              <a:p>
                <a:pPr marL="360363" algn="l"/>
                <a:r>
                  <a:rPr lang="en-IN" b="1" dirty="0"/>
                  <a:t>For dimension 1: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𝑷𝑬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𝐜𝐨𝐬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𝟏𝟎𝟎𝟎𝟎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𝟓𝟏𝟐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𝐜𝐨𝐬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𝟐𝟖𝟑𝟕</m:t>
                    </m:r>
                  </m:oMath>
                </a14:m>
                <a:endParaRPr lang="en-IN" dirty="0"/>
              </a:p>
              <a:p>
                <a:pPr marL="360363" algn="l"/>
                <a:r>
                  <a:rPr lang="en-IN" b="1" dirty="0"/>
                  <a:t>For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b="1" dirty="0"/>
                  <a:t>: Dimension 2: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𝑷𝑬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𝐬𝐢𝐧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𝟓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𝟏𝟎𝟎𝟎𝟎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IN" b="1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𝟓𝟏𝟐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br>
                  <a:rPr lang="en-IN" b="1" dirty="0"/>
                </a:br>
                <a:endParaRPr lang="en-IN" dirty="0"/>
              </a:p>
              <a:p>
                <a:pPr marL="360363" algn="l"/>
                <a:r>
                  <a:rPr lang="en-IN" b="1" dirty="0"/>
                  <a:t>The denominator becomes slightly larger, creating a lower-frequency sinusoid.</a:t>
                </a:r>
                <a:endParaRPr lang="en-IN" dirty="0"/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20FA1236-4232-2F72-E3BF-DB3ED09716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108952"/>
                <a:ext cx="11665783" cy="5019472"/>
              </a:xfrm>
              <a:blipFill>
                <a:blip r:embed="rId3"/>
                <a:stretch>
                  <a:fillRect l="-784" t="-1701" r="-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937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37D60-E5DE-5906-9856-E0277BC59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185D0-1F87-3967-C993-6347C9DA6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05AF626-F6E3-1523-B94F-9288F9F24420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804355"/>
                <a:ext cx="11665783" cy="5019472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sz="3200" dirty="0">
                    <a:latin typeface="Arial Black" panose="020B0A04020102020204" pitchFamily="34" charset="0"/>
                  </a:rPr>
                  <a:t>Each word creates: Query (Q), Key (K), Value (V)</a:t>
                </a:r>
              </a:p>
              <a:p>
                <a:pPr algn="l"/>
                <a:r>
                  <a:rPr lang="en-IN" sz="3200" b="1" dirty="0">
                    <a:latin typeface="Arial Black" panose="020B0A04020102020204" pitchFamily="34" charset="0"/>
                  </a:rPr>
                  <a:t> </a:t>
                </a:r>
                <a:endParaRPr lang="en-IN" sz="32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3200" b="1" dirty="0">
                    <a:latin typeface="Arial Black" panose="020B0A04020102020204" pitchFamily="34" charset="0"/>
                  </a:rPr>
                  <a:t>Attention Formula</a:t>
                </a:r>
                <a14:m>
                  <m:oMath xmlns:m="http://schemas.openxmlformats.org/officeDocument/2006/math">
                    <m:r>
                      <a:rPr lang="en-IN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𝐴𝑡𝑡𝑒𝑛𝑡𝑖𝑜𝑛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IN" sz="3200" i="1">
                        <a:latin typeface="Cambria Math" panose="02040503050406030204" pitchFamily="18" charset="0"/>
                      </a:rPr>
                      <m:t>𝑆𝑜𝑓𝑡𝑚𝑎𝑥</m:t>
                    </m:r>
                    <m:d>
                      <m:dPr>
                        <m:ctrlPr>
                          <a:rPr lang="en-IN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2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sSup>
                              <m:sSupPr>
                                <m:ctrlPr>
                                  <a:rPr lang="en-IN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3200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p>
                                <m:r>
                                  <a:rPr lang="en-IN" sz="3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32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3200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IN" sz="320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en-IN" sz="32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IN" sz="3200" dirty="0">
                  <a:latin typeface="Arial Black" panose="020B0A04020102020204" pitchFamily="34" charset="0"/>
                </a:endParaRPr>
              </a:p>
              <a:p>
                <a:pPr algn="just"/>
                <a:r>
                  <a:rPr lang="en-IN" sz="3200" b="1" dirty="0">
                    <a:latin typeface="Arial Black" panose="020B0A04020102020204" pitchFamily="34" charset="0"/>
                  </a:rPr>
                  <a:t>The Attention mechanism answers the question: </a:t>
                </a:r>
              </a:p>
              <a:p>
                <a:pPr algn="just"/>
                <a:endParaRPr lang="en-IN" sz="3200" b="1" dirty="0">
                  <a:latin typeface="Arial Black" panose="020B0A04020102020204" pitchFamily="34" charset="0"/>
                </a:endParaRPr>
              </a:p>
              <a:p>
                <a:pPr algn="just"/>
                <a:r>
                  <a:rPr lang="en-IN" sz="3200" b="1" dirty="0">
                    <a:latin typeface="Arial Black" panose="020B0A04020102020204" pitchFamily="34" charset="0"/>
                  </a:rPr>
                  <a:t>“For each word, which other words should I pay attention to, and by how much?"</a:t>
                </a:r>
                <a:endParaRPr lang="en-IN" sz="3200" dirty="0">
                  <a:latin typeface="Arial Black" panose="020B0A04020102020204" pitchFamily="34" charset="0"/>
                </a:endParaRPr>
              </a:p>
              <a:p>
                <a:r>
                  <a:rPr lang="en-IN" b="1" dirty="0"/>
                  <a:t> </a:t>
                </a:r>
                <a:endParaRPr lang="en-IN" dirty="0"/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05AF626-F6E3-1523-B94F-9288F9F244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804355"/>
                <a:ext cx="11665783" cy="5019472"/>
              </a:xfrm>
              <a:blipFill>
                <a:blip r:embed="rId3"/>
                <a:stretch>
                  <a:fillRect l="-1306" t="-2552" r="-13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35660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B5D1D-8760-E8EF-683B-2546FBF7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A7549-8D0F-1907-53E0-2E5F865DB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0709532-AEC6-0A32-F2A9-0C8C16C21AF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3390900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sz="2000" dirty="0">
                    <a:latin typeface="Arial Black" panose="020B0A04020102020204" pitchFamily="34" charset="0"/>
                  </a:rPr>
                  <a:t>Example Sentence: I LOVE YOU</a:t>
                </a:r>
              </a:p>
              <a:p>
                <a:pPr algn="l"/>
                <a:r>
                  <a:rPr lang="en-IN" sz="2000" b="1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Step-1:  </a:t>
                </a:r>
                <a:r>
                  <a:rPr lang="en-IN" sz="2000" b="1" dirty="0">
                    <a:latin typeface="Arial Black" panose="020B0A04020102020204" pitchFamily="34" charset="0"/>
                  </a:rPr>
                  <a:t>Carry Input Embedding:  After embedding: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IN" sz="2000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IN" sz="2000" b="1" dirty="0">
                    <a:latin typeface="Arial Black" panose="020B0A04020102020204" pitchFamily="34" charset="0"/>
                  </a:rPr>
                  <a:t> </a:t>
                </a:r>
              </a:p>
              <a:p>
                <a:pPr algn="l"/>
                <a:r>
                  <a:rPr lang="en-IN" sz="2000" b="1" dirty="0">
                    <a:latin typeface="Arial Black" panose="020B0A04020102020204" pitchFamily="34" charset="0"/>
                  </a:rPr>
                  <a:t>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N" sz="2000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sz="2000" b="1" i="1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</m:sup>
                    </m:sSup>
                  </m:oMath>
                </a14:m>
                <a:br>
                  <a:rPr lang="en-IN" sz="2000" b="1" dirty="0">
                    <a:latin typeface="Arial Black" panose="020B0A04020102020204" pitchFamily="34" charset="0"/>
                  </a:rPr>
                </a:br>
                <a:endParaRPr lang="en-IN" sz="20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000" b="1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Step-2: </a:t>
                </a:r>
                <a:r>
                  <a:rPr lang="en-IN" sz="2000" b="1" dirty="0">
                    <a:latin typeface="Arial Black" panose="020B0A04020102020204" pitchFamily="34" charset="0"/>
                  </a:rPr>
                  <a:t>Generate Queries, Keys and Values</a:t>
                </a:r>
                <a:endParaRPr lang="en-IN" sz="20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000" b="1" dirty="0">
                    <a:latin typeface="Arial Black" panose="020B0A04020102020204" pitchFamily="34" charset="0"/>
                  </a:rPr>
                  <a:t> </a:t>
                </a:r>
                <a:endParaRPr lang="en-IN" sz="20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000" b="1" dirty="0">
                    <a:latin typeface="Arial Black" panose="020B0A04020102020204" pitchFamily="34" charset="0"/>
                  </a:rPr>
                  <a:t>The input embeddings are projected into three vectors: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𝑿</m:t>
                    </m:r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</m:sSub>
                  </m:oMath>
                </a14:m>
                <a:r>
                  <a:rPr lang="en-IN" sz="2000" b="1" dirty="0">
                    <a:latin typeface="Arial Black" panose="020B0A04020102020204" pitchFamily="34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𝑿</m:t>
                    </m:r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</m:oMath>
                </a14:m>
                <a:r>
                  <a:rPr lang="en-IN" sz="2000" b="1" dirty="0">
                    <a:latin typeface="Arial Black" panose="020B0A04020102020204" pitchFamily="34" charset="0"/>
                  </a:rPr>
                  <a:t> and   </a:t>
                </a:r>
                <a14:m>
                  <m:oMath xmlns:m="http://schemas.openxmlformats.org/officeDocument/2006/math">
                    <m:r>
                      <a:rPr lang="en-IN" sz="2000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000" b="1" i="1">
                        <a:latin typeface="Cambria Math" panose="02040503050406030204" pitchFamily="18" charset="0"/>
                      </a:rPr>
                      <m:t>𝑿</m:t>
                    </m:r>
                    <m:sSub>
                      <m:sSubPr>
                        <m:ctrlPr>
                          <a:rPr lang="en-I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sz="20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endParaRPr lang="en-IN" sz="20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0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000" b="1" dirty="0">
                    <a:latin typeface="Arial Black" panose="020B0A04020102020204" pitchFamily="34" charset="0"/>
                  </a:rPr>
                </a:br>
                <a:endParaRPr lang="en-IN" sz="20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000" b="1" dirty="0">
                    <a:latin typeface="Arial Black" panose="020B0A04020102020204" pitchFamily="34" charset="0"/>
                  </a:rPr>
                  <a:t>where:</a:t>
                </a:r>
              </a:p>
              <a:p>
                <a:pPr algn="l"/>
                <a:endParaRPr lang="en-IN" sz="20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32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/>
                  <a:t>Learnable parameters: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𝑸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𝑲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𝒎𝒐𝒅𝒆𝒍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</m:sup>
                    </m:sSup>
                  </m:oMath>
                </a14:m>
                <a:endParaRPr lang="en-IN" sz="3200" dirty="0">
                  <a:latin typeface="Arial Black" panose="020B0A04020102020204" pitchFamily="34" charset="0"/>
                </a:endParaRPr>
              </a:p>
              <a:p>
                <a:r>
                  <a:rPr lang="en-IN" b="1" dirty="0"/>
                  <a:t> </a:t>
                </a:r>
                <a:endParaRPr lang="en-IN" dirty="0"/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C0709532-AEC6-0A32-F2A9-0C8C16C21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3390900"/>
              </a:xfrm>
              <a:blipFill>
                <a:blip r:embed="rId3"/>
                <a:stretch>
                  <a:fillRect l="-784" t="-1799" b="-847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B72245-C7CC-F295-3E36-61AB1ED211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943423"/>
              </p:ext>
            </p:extLst>
          </p:nvPr>
        </p:nvGraphicFramePr>
        <p:xfrm>
          <a:off x="237490" y="4019550"/>
          <a:ext cx="11078210" cy="19802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8337">
                  <a:extLst>
                    <a:ext uri="{9D8B030D-6E8A-4147-A177-3AD203B41FA5}">
                      <a16:colId xmlns:a16="http://schemas.microsoft.com/office/drawing/2014/main" val="3030134501"/>
                    </a:ext>
                  </a:extLst>
                </a:gridCol>
                <a:gridCol w="3646372">
                  <a:extLst>
                    <a:ext uri="{9D8B030D-6E8A-4147-A177-3AD203B41FA5}">
                      <a16:colId xmlns:a16="http://schemas.microsoft.com/office/drawing/2014/main" val="1410034069"/>
                    </a:ext>
                  </a:extLst>
                </a:gridCol>
                <a:gridCol w="5653501">
                  <a:extLst>
                    <a:ext uri="{9D8B030D-6E8A-4147-A177-3AD203B41FA5}">
                      <a16:colId xmlns:a16="http://schemas.microsoft.com/office/drawing/2014/main" val="23054549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Symbol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Meaning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Purpose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260685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(Q)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Query Matrix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What I am Looking for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515944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(K)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Key Matrix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What Information do I contain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23620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(V)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Value Matrix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The Actual Information stored 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3140838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(W</a:t>
                      </a:r>
                      <a:r>
                        <a:rPr lang="en-IN" sz="1600" kern="100" baseline="-25000" dirty="0">
                          <a:effectLst/>
                          <a:latin typeface="Arial Black" panose="020B0A04020102020204" pitchFamily="34" charset="0"/>
                        </a:rPr>
                        <a:t>Q</a:t>
                      </a: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)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Query Weight Matrix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2728323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(W</a:t>
                      </a:r>
                      <a:r>
                        <a:rPr lang="en-IN" sz="1600" kern="100" baseline="-25000" dirty="0">
                          <a:effectLst/>
                          <a:latin typeface="Arial Black" panose="020B0A04020102020204" pitchFamily="34" charset="0"/>
                        </a:rPr>
                        <a:t>K</a:t>
                      </a: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)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Key Weight Matrix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39398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(W</a:t>
                      </a:r>
                      <a:r>
                        <a:rPr lang="en-IN" sz="1600" kern="100" baseline="-25000" dirty="0">
                          <a:effectLst/>
                          <a:latin typeface="Arial Black" panose="020B0A04020102020204" pitchFamily="34" charset="0"/>
                        </a:rPr>
                        <a:t>V</a:t>
                      </a: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)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>
                          <a:effectLst/>
                          <a:latin typeface="Arial Black" panose="020B0A04020102020204" pitchFamily="34" charset="0"/>
                        </a:rPr>
                        <a:t>Value Weight Matrix</a:t>
                      </a:r>
                      <a:endParaRPr lang="en-IN" sz="1600" kern="10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Arial Black" panose="020B0A04020102020204" pitchFamily="34" charset="0"/>
                        </a:rPr>
                        <a:t> </a:t>
                      </a:r>
                      <a:endParaRPr lang="en-IN" sz="1600" kern="100" dirty="0">
                        <a:effectLst/>
                        <a:latin typeface="Arial Black" panose="020B0A040201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243342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33398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591F1-2506-B9CE-B394-D9A54F2D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5533-7C5A-5B9F-782F-F419840833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CAE90AB-AEE9-851C-71C6-0B78BCFFCC7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dirty="0">
                    <a:highlight>
                      <a:srgbClr val="FFFF00"/>
                    </a:highlight>
                    <a:latin typeface="Arial Black" panose="020B0A04020102020204" pitchFamily="34" charset="0"/>
                  </a:rPr>
                  <a:t>Step-3: </a:t>
                </a:r>
                <a:r>
                  <a:rPr lang="en-IN" dirty="0">
                    <a:latin typeface="Arial Black" panose="020B0A04020102020204" pitchFamily="34" charset="0"/>
                  </a:rPr>
                  <a:t>Compute Similarity scores. </a:t>
                </a:r>
                <a:r>
                  <a:rPr lang="en-IN" b="1" dirty="0">
                    <a:latin typeface="Arial Black" panose="020B0A04020102020204" pitchFamily="34" charset="0"/>
                  </a:rPr>
                  <a:t>The attention mechanism measures similarity between Queries and Keys.</a:t>
                </a: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IN" b="1" i="1">
                          <a:latin typeface="Cambria Math" panose="02040503050406030204" pitchFamily="18" charset="0"/>
                        </a:rPr>
                        <m:t>𝑺𝒄𝒐𝒓𝒆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1" i="1">
                          <a:latin typeface="Cambria Math" panose="02040503050406030204" pitchFamily="18" charset="0"/>
                        </a:rPr>
                        <m:t>𝑸</m:t>
                      </m:r>
                      <m:sSup>
                        <m:sSupPr>
                          <m:ctrlPr>
                            <a:rPr lang="en-IN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  <m: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Expanded: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and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b>
                            </m:sSub>
                          </m:e>
                        </m:eqArr>
                      </m:e>
                    </m:d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Then: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  <m:e>
                              <m:sSub>
                                <m:sSub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𝒌</m:t>
                                  </m:r>
                                </m:e>
                                <m:sub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b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Each element: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represents How strongly token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should attend to token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𝒋</m:t>
                    </m:r>
                  </m:oMath>
                </a14:m>
                <a:r>
                  <a:rPr lang="en-IN" b="1" dirty="0"/>
                  <a:t>.</a:t>
                </a:r>
                <a:endParaRPr lang="en-IN" dirty="0"/>
              </a:p>
              <a:p>
                <a:r>
                  <a:rPr lang="en-IN" b="1" dirty="0"/>
                  <a:t> </a:t>
                </a:r>
                <a:endParaRPr lang="en-IN" dirty="0"/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CAE90AB-AEE9-851C-71C6-0B78BCFFCC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784" t="-804" r="-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536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53F2C-FA3A-3AA6-D82D-F3FE1763E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1A844-5601-ECAA-5356-B5ACCBCCB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94EDAC1-FC6A-A922-9258-138CAAC037C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Step 4: Scale the Scores. The raw scores can become very large.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To stabilize gradients: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</m:acc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𝑸</m:t>
                        </m:r>
                        <m:sSup>
                          <m:sSup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  <m:sup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</m:e>
                              <m:sub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b="0" i="0">
                        <a:latin typeface="Arial Black" panose="020B0A04020102020204" pitchFamily="34" charset="0"/>
                      </a:rPr>
                      <m:t>Dimension of Key vectors</m:t>
                    </m:r>
                  </m:oMath>
                </a14:m>
                <a:br>
                  <a:rPr lang="en-IN" b="1" dirty="0">
                    <a:highlight>
                      <a:srgbClr val="FFFF00"/>
                    </a:highlight>
                  </a:rPr>
                </a:br>
                <a:r>
                  <a:rPr lang="en-IN" b="1" dirty="0">
                    <a:latin typeface="Arial Black" panose="020B0A04020102020204" pitchFamily="34" charset="0"/>
                  </a:rPr>
                  <a:t>Why divide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e>
                    </m:ra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?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Suppose: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𝟔𝟒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Then: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𝟔𝟒</m:t>
                        </m:r>
                      </m:e>
                    </m:rad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𝟖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Without scaling: Score values become huge,  Softmax saturates, Gradients vanish,  Poor learning.  Scaling prevents this problem.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94EDAC1-FC6A-A922-9258-138CAAC03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784" t="-1407" r="-8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22247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94603-8518-6987-7D39-3D0039D0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9CEEE-0E09-A5CD-7F11-11C7E2F3F8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F3D2EA0-EC13-A519-FEF9-74795EA96A4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Step 5: Apply SoftMax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Convert scores into probabilities.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b="0" i="0">
                        <a:latin typeface="Arial Black" panose="020B0A04020102020204" pitchFamily="34" charset="0"/>
                      </a:rPr>
                      <m:t>Softmax</m:t>
                    </m:r>
                    <m:d>
                      <m:d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where: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 is the Attention Weight Matrix.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Softmax formula: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𝐞𝐱𝐩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𝒊𝒌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Properties: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r>
                  <a:rPr lang="en-IN" b="1" dirty="0">
                    <a:latin typeface="Arial Black" panose="020B0A04020102020204" pitchFamily="34" charset="0"/>
                  </a:rPr>
                  <a:t>Example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Suppose scores are: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 Softmax gives: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𝟔𝟔𝟓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𝟐𝟒𝟓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𝟎𝟗𝟎</m:t>
                        </m:r>
                      </m:e>
                    </m:d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Interpretation: 66.5% attention to Token 1, 24.5% attention to Token 2,  9.0% attention to Token 3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8F3D2EA0-EC13-A519-FEF9-74795EA96A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784" t="-804" r="-9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27829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3720-7AE0-E42B-69E0-FF423ECF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EB3CF-1A11-10A5-F922-22FF86255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07C3AEF-B041-D57B-E656-EB5FD4F6329D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Step 5: Apply SoftMax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Convert scores into probabilities.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b="0" i="0">
                        <a:latin typeface="Arial Black" panose="020B0A04020102020204" pitchFamily="34" charset="0"/>
                      </a:rPr>
                      <m:t>Softmax</m:t>
                    </m:r>
                    <m:d>
                      <m:d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where: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 is the Attention Weight Matrix.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Softmax formula: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𝐞𝐱𝐩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𝐞𝐱𝐩</m:t>
                            </m:r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</m:acc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𝒊𝒌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Properties: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𝜶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IN" b="1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r>
                  <a:rPr lang="en-IN" b="1" dirty="0">
                    <a:latin typeface="Arial Black" panose="020B0A04020102020204" pitchFamily="34" charset="0"/>
                  </a:rPr>
                  <a:t>Example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Suppose scores are: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 Softmax gives: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sepChr m:val=","/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𝟔𝟔𝟓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𝟐𝟒𝟓</m:t>
                        </m:r>
                      </m:e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𝟎𝟗𝟎</m:t>
                        </m:r>
                      </m:e>
                    </m:d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Interpretation: 66.5% attention to Token 1, 24.5% attention to Token 2,  9.0% attention to Token 3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407C3AEF-B041-D57B-E656-EB5FD4F632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784" t="-804" r="-9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8016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7E2B5-BEB2-C2FE-AA74-ED92F047E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37A2-BF96-7DFB-C31E-64A63163B2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7281387-6763-FDE4-BAA9-D6AB814914B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sz="2800" b="1" dirty="0">
                    <a:latin typeface="Arial Black" panose="020B0A04020102020204" pitchFamily="34" charset="0"/>
                  </a:rPr>
                  <a:t>Step 6: Weighted Sum of Values</a:t>
                </a: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800" b="1" dirty="0">
                    <a:latin typeface="Arial Black" panose="020B0A04020102020204" pitchFamily="34" charset="0"/>
                  </a:rPr>
                  <a:t>Now multiply attention weights by values, </a:t>
                </a:r>
                <a14:m>
                  <m:oMath xmlns:m="http://schemas.openxmlformats.org/officeDocument/2006/math">
                    <m:r>
                      <a:rPr lang="en-IN" sz="2800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IN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>
                        <a:latin typeface="Cambria Math" panose="02040503050406030204" pitchFamily="18" charset="0"/>
                      </a:rPr>
                      <m:t>𝑨𝑽</m:t>
                    </m:r>
                  </m:oMath>
                </a14:m>
                <a:br>
                  <a:rPr lang="en-IN" sz="2800" b="1" i="1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800" b="1" dirty="0">
                    <a:latin typeface="Arial Black" panose="020B0A04020102020204" pitchFamily="34" charset="0"/>
                  </a:rPr>
                  <a:t>Or  </a:t>
                </a:r>
                <a14:m>
                  <m:oMath xmlns:m="http://schemas.openxmlformats.org/officeDocument/2006/math">
                    <m:r>
                      <a:rPr lang="en-IN" sz="2800" b="1" i="1">
                        <a:latin typeface="Cambria Math" panose="02040503050406030204" pitchFamily="18" charset="0"/>
                      </a:rPr>
                      <m:t>𝒁</m:t>
                    </m:r>
                    <m:r>
                      <a:rPr lang="en-IN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800" b="0" i="0">
                        <a:latin typeface="Arial Black" panose="020B0A04020102020204" pitchFamily="34" charset="0"/>
                      </a:rPr>
                      <m:t>Softmax</m:t>
                    </m:r>
                    <m:d>
                      <m:dPr>
                        <m:ctrlPr>
                          <a:rPr lang="en-IN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28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sSup>
                              <m:sSupPr>
                                <m:ctrlPr>
                                  <a:rPr lang="en-I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sz="2800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p>
                                <m:r>
                                  <a:rPr lang="en-IN" sz="28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800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sz="2800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en-IN" sz="2800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IN" sz="2800" b="1" dirty="0">
                    <a:latin typeface="Arial Black" panose="020B0A04020102020204" pitchFamily="34" charset="0"/>
                  </a:rPr>
                  <a:t>,  For each token: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 panose="02040503050406030204" pitchFamily="18" charset="0"/>
                          </a:rPr>
                          <m:t>𝒛</m:t>
                        </m:r>
                      </m:e>
                      <m:sub>
                        <m:r>
                          <a:rPr lang="en-IN" sz="2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N" sz="28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8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IN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1" i="1">
                                <a:latin typeface="Cambria Math" panose="02040503050406030204" pitchFamily="18" charset="0"/>
                              </a:rPr>
                              <m:t>𝜶</m:t>
                            </m:r>
                          </m:e>
                          <m:sub>
                            <m:r>
                              <a:rPr lang="en-IN" sz="2800" b="1" i="1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IN" sz="28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br>
                  <a:rPr lang="en-IN" sz="2800" b="1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sz="2800" b="1" dirty="0">
                    <a:latin typeface="Arial Black" panose="020B0A04020102020204" pitchFamily="34" charset="0"/>
                  </a:rPr>
                  <a:t>where:</a:t>
                </a:r>
                <a:endParaRPr lang="en-IN" sz="2800" dirty="0">
                  <a:latin typeface="Arial Black" panose="020B0A04020102020204" pitchFamily="34" charset="0"/>
                </a:endParaRPr>
              </a:p>
              <a:p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37281387-6763-FDE4-BAA9-D6AB814914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1045" t="-17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DC0C070-55F3-7A30-916F-BDB903891C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3678196"/>
                  </p:ext>
                </p:extLst>
              </p:nvPr>
            </p:nvGraphicFramePr>
            <p:xfrm>
              <a:off x="410184" y="4681982"/>
              <a:ext cx="10515600" cy="21183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058701225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2102395525"/>
                        </a:ext>
                      </a:extLst>
                    </a:gridCol>
                  </a:tblGrid>
                  <a:tr h="26098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rial Black" panose="020B0A04020102020204" pitchFamily="34" charset="0"/>
                            </a:rPr>
                            <a:t>Symbol</a:t>
                          </a:r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rial Black" panose="020B0A04020102020204" pitchFamily="34" charset="0"/>
                            </a:rPr>
                            <a:t>Meaning: </a:t>
                          </a:r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3559303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>
                              <a:effectLst/>
                              <a:latin typeface="Arial Black" panose="020B0A04020102020204" pitchFamily="34" charset="0"/>
                            </a:rPr>
                            <a:t>Context Vector</a:t>
                          </a:r>
                          <a:endParaRPr lang="en-IN" sz="24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184787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>
                              <a:effectLst/>
                              <a:latin typeface="Arial Black" panose="020B0A04020102020204" pitchFamily="34" charset="0"/>
                            </a:rPr>
                            <a:t>Attention Weight</a:t>
                          </a:r>
                          <a:endParaRPr lang="en-IN" sz="24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697912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IN" sz="24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rial Black" panose="020B0A04020102020204" pitchFamily="34" charset="0"/>
                            </a:rPr>
                            <a:t>Value Vector</a:t>
                          </a:r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7944602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DC0C070-55F3-7A30-916F-BDB903891CA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3678196"/>
                  </p:ext>
                </p:extLst>
              </p:nvPr>
            </p:nvGraphicFramePr>
            <p:xfrm>
              <a:off x="410184" y="4681982"/>
              <a:ext cx="10515600" cy="211836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058701225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2102395525"/>
                        </a:ext>
                      </a:extLst>
                    </a:gridCol>
                  </a:tblGrid>
                  <a:tr h="41478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rial Black" panose="020B0A04020102020204" pitchFamily="34" charset="0"/>
                            </a:rPr>
                            <a:t>Symbol</a:t>
                          </a:r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rial Black" panose="020B0A04020102020204" pitchFamily="34" charset="0"/>
                            </a:rPr>
                            <a:t>Meaning: </a:t>
                          </a:r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35593030"/>
                      </a:ext>
                    </a:extLst>
                  </a:tr>
                  <a:tr h="54127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4"/>
                          <a:stretch>
                            <a:fillRect l="-116" t="-86517" r="-100463" b="-2314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>
                              <a:effectLst/>
                              <a:latin typeface="Arial Black" panose="020B0A04020102020204" pitchFamily="34" charset="0"/>
                            </a:rPr>
                            <a:t>Context Vector</a:t>
                          </a:r>
                          <a:endParaRPr lang="en-IN" sz="24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18478707"/>
                      </a:ext>
                    </a:extLst>
                  </a:tr>
                  <a:tr h="5811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4"/>
                          <a:stretch>
                            <a:fillRect l="-116" t="-172917" r="-100463" b="-1145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>
                              <a:effectLst/>
                              <a:latin typeface="Arial Black" panose="020B0A04020102020204" pitchFamily="34" charset="0"/>
                            </a:rPr>
                            <a:t>Attention Weight</a:t>
                          </a:r>
                          <a:endParaRPr lang="en-IN" sz="24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697912327"/>
                      </a:ext>
                    </a:extLst>
                  </a:tr>
                  <a:tr h="5811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4"/>
                          <a:stretch>
                            <a:fillRect l="-116" t="-275789" r="-100463" b="-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2400" kern="100" dirty="0">
                              <a:effectLst/>
                              <a:latin typeface="Arial Black" panose="020B0A04020102020204" pitchFamily="34" charset="0"/>
                            </a:rPr>
                            <a:t>Value Vector</a:t>
                          </a:r>
                          <a:endParaRPr lang="en-IN" sz="24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7944602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00110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D86F4-172C-8F53-BF9D-9A2BE47E2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57B55-D0D7-E1BA-73C2-486E1BBE8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86D0EB6-357B-B904-9B08-48A982247894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Matrix Dimensions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Assume: Sequence Length =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Embedding Size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𝒎𝒐𝒅𝒆𝒍</m:t>
                        </m:r>
                      </m:sub>
                    </m:sSub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Key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Value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Then: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</m:sup>
                    </m:sSup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Score Matrix: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Dimensions: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Attention Matrix: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𝑺𝒐𝒇𝒕𝒎𝒂𝒙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 Dimensions: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r>
                  <a:rPr lang="en-IN" b="1" dirty="0">
                    <a:latin typeface="Arial Black" panose="020B0A04020102020204" pitchFamily="34" charset="0"/>
                  </a:rPr>
                  <a:t>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Final Output: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𝑨𝑽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 Dimensions: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86D0EB6-357B-B904-9B08-48A982247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784" t="-1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5625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7C0B0-E014-FFCF-AC1A-B32917AA8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16F2-760A-286F-F05B-886DC5EF13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C01BD52-8A67-96C5-EEBC-D6584F463BB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Matrix Dimensions</a:t>
                </a: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Assume: Sequence Length =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Embedding Size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𝒎𝒐𝒅𝒆𝒍</m:t>
                        </m:r>
                      </m:sub>
                    </m:sSub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Key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Value Dimension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Then: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</m:sup>
                    </m:sSup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Score Matrix: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sSup>
                      <m:sSup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𝑲</m:t>
                        </m:r>
                      </m:e>
                      <m:sup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Dimensions: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)(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b>
                        </m:s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Attention Matrix: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𝑺𝒐𝒇𝒕𝒎𝒂𝒙</m:t>
                    </m:r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 Dimensions: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br>
                  <a:rPr lang="en-IN" b="1" i="1" dirty="0">
                    <a:latin typeface="Arial Black" panose="020B0A04020102020204" pitchFamily="34" charset="0"/>
                  </a:rPr>
                </a:br>
                <a:r>
                  <a:rPr lang="en-IN" b="1" dirty="0">
                    <a:latin typeface="Arial Black" panose="020B0A04020102020204" pitchFamily="34" charset="0"/>
                  </a:rPr>
                  <a:t>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Final Output: 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𝑨𝑽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,  Dimensions: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IN" b="1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IN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b="1" i="1">
                            <a:latin typeface="Cambria Math" panose="02040503050406030204" pitchFamily="18" charset="0"/>
                          </a:rPr>
                          <m:t>𝒗</m:t>
                        </m:r>
                      </m:sub>
                    </m:sSub>
                  </m:oMath>
                </a14:m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EC01BD52-8A67-96C5-EEBC-D6584F463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50"/>
                <a:ext cx="11665783" cy="6066008"/>
              </a:xfrm>
              <a:blipFill>
                <a:blip r:embed="rId3"/>
                <a:stretch>
                  <a:fillRect l="-784" t="-14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7705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22B84-475B-8C6E-ABB2-AB4C3F61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5E44C-B4C8-C26C-F09B-2740BA9C4B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BCE39D-1FA8-7944-8A54-09829486B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033" y="628650"/>
            <a:ext cx="11665783" cy="465308"/>
          </a:xfrm>
        </p:spPr>
        <p:txBody>
          <a:bodyPr>
            <a:noAutofit/>
          </a:bodyPr>
          <a:lstStyle/>
          <a:p>
            <a:pPr algn="l"/>
            <a:r>
              <a:rPr lang="en-IN" b="1" dirty="0">
                <a:latin typeface="Arial Black" panose="020B0A04020102020204" pitchFamily="34" charset="0"/>
              </a:rPr>
              <a:t>Meaning of Variables</a:t>
            </a:r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b="1" dirty="0">
                <a:latin typeface="Arial Black" panose="020B0A04020102020204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  <a:p>
            <a:r>
              <a:rPr lang="en-IN" dirty="0"/>
              <a:t> </a:t>
            </a:r>
          </a:p>
          <a:p>
            <a:pPr algn="l"/>
            <a:endParaRPr lang="en-US" sz="4000" b="1" dirty="0">
              <a:latin typeface="Arial Black" panose="020B0A04020102020204" pitchFamily="34" charset="0"/>
            </a:endParaRPr>
          </a:p>
          <a:p>
            <a:pPr algn="just"/>
            <a:endParaRPr lang="en-IN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IN" b="1" dirty="0">
                <a:latin typeface="Arial Black" panose="020B0A04020102020204" pitchFamily="34" charset="0"/>
              </a:rPr>
              <a:t> </a:t>
            </a:r>
            <a:endParaRPr lang="en-IN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800" b="1" dirty="0">
              <a:latin typeface="Arial Black" panose="020B0A04020102020204" pitchFamily="34" charset="0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IN" sz="2800" b="1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br>
              <a:rPr lang="en-IN" sz="2800" dirty="0">
                <a:latin typeface="Arial Black" panose="020B0A04020102020204" pitchFamily="34" charset="0"/>
              </a:rPr>
            </a:b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sz="28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marL="717550" indent="-717550" algn="l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q"/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300" dirty="0">
              <a:latin typeface="Arial Black" panose="020B0A040201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IN" dirty="0">
              <a:latin typeface="Arial Black" panose="020B0A040201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A310003-464B-8829-F51D-FF7A49BD16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7009229"/>
                  </p:ext>
                </p:extLst>
              </p:nvPr>
            </p:nvGraphicFramePr>
            <p:xfrm>
              <a:off x="116033" y="1382108"/>
              <a:ext cx="11665783" cy="372599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05262">
                      <a:extLst>
                        <a:ext uri="{9D8B030D-6E8A-4147-A177-3AD203B41FA5}">
                          <a16:colId xmlns:a16="http://schemas.microsoft.com/office/drawing/2014/main" val="2902446441"/>
                        </a:ext>
                      </a:extLst>
                    </a:gridCol>
                    <a:gridCol w="4256577">
                      <a:extLst>
                        <a:ext uri="{9D8B030D-6E8A-4147-A177-3AD203B41FA5}">
                          <a16:colId xmlns:a16="http://schemas.microsoft.com/office/drawing/2014/main" val="1126637459"/>
                        </a:ext>
                      </a:extLst>
                    </a:gridCol>
                    <a:gridCol w="2957893">
                      <a:extLst>
                        <a:ext uri="{9D8B030D-6E8A-4147-A177-3AD203B41FA5}">
                          <a16:colId xmlns:a16="http://schemas.microsoft.com/office/drawing/2014/main" val="3798426611"/>
                        </a:ext>
                      </a:extLst>
                    </a:gridCol>
                    <a:gridCol w="2946051">
                      <a:extLst>
                        <a:ext uri="{9D8B030D-6E8A-4147-A177-3AD203B41FA5}">
                          <a16:colId xmlns:a16="http://schemas.microsoft.com/office/drawing/2014/main" val="2850711842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Variable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Meaning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Variable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Meaning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62454933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Query matrix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ad>
                                  <m:radPr>
                                    <m:degHide m:val="on"/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𝒅</m:t>
                                        </m:r>
                                      </m:e>
                                      <m:sub>
                                        <m:r>
                                          <a:rPr lang="en-IN" sz="1800" kern="100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  <m:t>𝒌</m:t>
                                        </m:r>
                                      </m:sub>
                                    </m:sSub>
                                  </m:e>
                                </m:rad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Scaling factor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02076027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Key matrix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Softmax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Converts scores to probabilities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4747619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Value matrix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𝜶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Attention weight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9125481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Query vector of token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oMath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Attention matrix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92395372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Key vector of token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oMath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𝒛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Context vector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12399819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𝒗</m:t>
                                    </m:r>
                                  </m:e>
                                  <m:sub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Value vector of token </a:t>
                          </a:r>
                          <a14:m>
                            <m:oMath xmlns:m="http://schemas.openxmlformats.org/officeDocument/2006/math">
                              <m:r>
                                <a:rPr lang="en-IN" sz="1800" kern="100">
                                  <a:effectLst/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oMath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𝒁</m:t>
                                </m:r>
                              </m:oMath>
                            </m:oMathPara>
                          </a14:m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Final attention output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795711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n-IN" sz="1800" kern="100">
                                    <a:effectLst/>
                                    <a:latin typeface="Cambria Math" panose="02040503050406030204" pitchFamily="18" charset="0"/>
                                  </a:rPr>
                                  <m:t>𝑸</m:t>
                                </m:r>
                                <m:sSup>
                                  <m:sSupPr>
                                    <m:ctrlP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𝑲</m:t>
                                    </m:r>
                                  </m:e>
                                  <m:sup>
                                    <m:r>
                                      <a:rPr lang="en-IN" sz="1800" kern="1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Similarity score matrix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/>
                    </a:tc>
                    <a:extLst>
                      <a:ext uri="{0D108BD9-81ED-4DB2-BD59-A6C34878D82A}">
                        <a16:rowId xmlns:a16="http://schemas.microsoft.com/office/drawing/2014/main" val="3112295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A310003-464B-8829-F51D-FF7A49BD163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37009229"/>
                  </p:ext>
                </p:extLst>
              </p:nvPr>
            </p:nvGraphicFramePr>
            <p:xfrm>
              <a:off x="116033" y="1382108"/>
              <a:ext cx="11665783" cy="372599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505262">
                      <a:extLst>
                        <a:ext uri="{9D8B030D-6E8A-4147-A177-3AD203B41FA5}">
                          <a16:colId xmlns:a16="http://schemas.microsoft.com/office/drawing/2014/main" val="2902446441"/>
                        </a:ext>
                      </a:extLst>
                    </a:gridCol>
                    <a:gridCol w="4256577">
                      <a:extLst>
                        <a:ext uri="{9D8B030D-6E8A-4147-A177-3AD203B41FA5}">
                          <a16:colId xmlns:a16="http://schemas.microsoft.com/office/drawing/2014/main" val="1126637459"/>
                        </a:ext>
                      </a:extLst>
                    </a:gridCol>
                    <a:gridCol w="2957893">
                      <a:extLst>
                        <a:ext uri="{9D8B030D-6E8A-4147-A177-3AD203B41FA5}">
                          <a16:colId xmlns:a16="http://schemas.microsoft.com/office/drawing/2014/main" val="3798426611"/>
                        </a:ext>
                      </a:extLst>
                    </a:gridCol>
                    <a:gridCol w="2946051">
                      <a:extLst>
                        <a:ext uri="{9D8B030D-6E8A-4147-A177-3AD203B41FA5}">
                          <a16:colId xmlns:a16="http://schemas.microsoft.com/office/drawing/2014/main" val="2850711842"/>
                        </a:ext>
                      </a:extLst>
                    </a:gridCol>
                  </a:tblGrid>
                  <a:tr h="31584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Variable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Meaning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Variable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Meaning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1624549333"/>
                      </a:ext>
                    </a:extLst>
                  </a:tr>
                  <a:tr h="5026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71951" r="-676518" b="-5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Query matrix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194856" t="-71951" r="-100206" b="-5975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Scaling factor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020760276"/>
                      </a:ext>
                    </a:extLst>
                  </a:tr>
                  <a:tr h="6313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135577" r="-676518" b="-371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Key matrix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Softmax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Converts scores to probabilities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474761970"/>
                      </a:ext>
                    </a:extLst>
                  </a:tr>
                  <a:tr h="4660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318182" r="-676518" b="-4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Value matrix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194856" t="-318182" r="-100206" b="-4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Attention weight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2912548163"/>
                      </a:ext>
                    </a:extLst>
                  </a:tr>
                  <a:tr h="4361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453521" r="-676518" b="-335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5673" t="-453521" r="-139398" b="-335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194856" t="-453521" r="-100206" b="-335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Attention matrix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923953720"/>
                      </a:ext>
                    </a:extLst>
                  </a:tr>
                  <a:tr h="4660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510390" r="-676518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5673" t="-510390" r="-139398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194856" t="-510390" r="-100206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Context vector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123998190"/>
                      </a:ext>
                    </a:extLst>
                  </a:tr>
                  <a:tr h="4660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618421" r="-676518" b="-1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35673" t="-618421" r="-139398" b="-1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194856" t="-618421" r="-100206" b="-1118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Final attention output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extLst>
                      <a:ext uri="{0D108BD9-81ED-4DB2-BD59-A6C34878D82A}">
                        <a16:rowId xmlns:a16="http://schemas.microsoft.com/office/drawing/2014/main" val="379571168"/>
                      </a:ext>
                    </a:extLst>
                  </a:tr>
                  <a:tr h="4417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" marR="9525" marT="9525" marB="9525" anchor="ctr">
                        <a:blipFill>
                          <a:blip r:embed="rId3"/>
                          <a:stretch>
                            <a:fillRect l="-810" t="-747945" r="-676518" b="-164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>
                              <a:effectLst/>
                              <a:latin typeface="Arial Black" panose="020B0A04020102020204" pitchFamily="34" charset="0"/>
                            </a:rPr>
                            <a:t>Similarity score matrix</a:t>
                          </a:r>
                          <a:endParaRPr lang="en-IN" sz="1800" kern="10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 anchor="ctr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/>
                    </a:tc>
                    <a:tc>
                      <a:txBody>
                        <a:bodyPr/>
                        <a:lstStyle/>
                        <a:p>
                          <a:pPr>
                            <a:lnSpc>
                              <a:spcPct val="115000"/>
                            </a:lnSpc>
                            <a:spcAft>
                              <a:spcPts val="800"/>
                            </a:spcAft>
                            <a:buNone/>
                          </a:pPr>
                          <a:r>
                            <a:rPr lang="en-IN" sz="1800" kern="100" dirty="0">
                              <a:effectLst/>
                              <a:latin typeface="Arial Black" panose="020B0A04020102020204" pitchFamily="34" charset="0"/>
                            </a:rPr>
                            <a:t> </a:t>
                          </a:r>
                          <a:endParaRPr lang="en-IN" sz="1800" kern="100" dirty="0">
                            <a:effectLst/>
                            <a:latin typeface="Arial Black" panose="020B0A04020102020204" pitchFamily="34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9525" marR="9525" marT="9525" marB="9525"/>
                    </a:tc>
                    <a:extLst>
                      <a:ext uri="{0D108BD9-81ED-4DB2-BD59-A6C34878D82A}">
                        <a16:rowId xmlns:a16="http://schemas.microsoft.com/office/drawing/2014/main" val="3112295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440543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937E-AFCE-8355-D30E-21FFF47D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D4A62-59EF-D148-538A-FB0F0A37A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3" y="163342"/>
            <a:ext cx="11959931" cy="46530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Core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4A9584F-DBD3-4A89-4A1A-838EFE510825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628649"/>
                <a:ext cx="12075967" cy="5800725"/>
              </a:xfrm>
            </p:spPr>
            <p:txBody>
              <a:bodyPr>
                <a:noAutofit/>
              </a:bodyPr>
              <a:lstStyle/>
              <a:p>
                <a:pPr algn="just"/>
                <a:r>
                  <a:rPr lang="en-IN" b="1" dirty="0">
                    <a:latin typeface="Arial Black" panose="020B0A04020102020204" pitchFamily="34" charset="0"/>
                  </a:rPr>
                  <a:t>Intuitive Interpretation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b="0" i="0">
                        <a:latin typeface="Arial Black" panose="020B0A04020102020204" pitchFamily="34" charset="0"/>
                      </a:rPr>
                      <m:t>Attention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𝑸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IN" b="1" i="1">
                        <a:latin typeface="Cambria Math" panose="02040503050406030204" pitchFamily="18" charset="0"/>
                      </a:rPr>
                      <m:t>)=</m:t>
                    </m:r>
                    <m:r>
                      <m:rPr>
                        <m:nor/>
                      </m:rPr>
                      <a:rPr lang="en-IN" b="0" i="0">
                        <a:latin typeface="Arial Black" panose="020B0A04020102020204" pitchFamily="34" charset="0"/>
                      </a:rPr>
                      <m:t>Softmax</m:t>
                    </m:r>
                    <m:d>
                      <m:dPr>
                        <m:ctrlPr>
                          <a:rPr lang="en-I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1" i="1">
                                <a:latin typeface="Cambria Math" panose="02040503050406030204" pitchFamily="18" charset="0"/>
                              </a:rPr>
                              <m:t>𝑸</m:t>
                            </m:r>
                            <m:sSup>
                              <m:sSupPr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𝑲</m:t>
                                </m:r>
                              </m:e>
                              <m:sup>
                                <m:r>
                                  <a:rPr lang="en-IN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b="1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b="1" i="1">
                                        <a:latin typeface="Cambria Math" panose="02040503050406030204" pitchFamily="18" charset="0"/>
                                      </a:rPr>
                                      <m:t>𝒌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  <m:r>
                      <a:rPr lang="en-IN" b="1" i="1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IN" b="1" dirty="0">
                    <a:latin typeface="Arial Black" panose="020B0A04020102020204" pitchFamily="34" charset="0"/>
                  </a:rPr>
                  <a:t>means: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lvl="0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Compare every Query with every Key.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lvl="0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Measure similarity using dot products.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lvl="0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Scale the scores to stabilize training.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lvl="0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Normalize scores into probabilities using Softmax.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lvl="0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Weight the Value vectors according to those probabilities.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lvl="0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Sum them to obtain a context-aware representation. 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542925" indent="-542925" algn="just">
                  <a:buFont typeface="Wingdings" panose="05000000000000000000" pitchFamily="2" charset="2"/>
                  <a:buChar char="q"/>
                </a:pPr>
                <a:r>
                  <a:rPr lang="en-IN" b="1" dirty="0">
                    <a:latin typeface="Arial Black" panose="020B0A04020102020204" pitchFamily="34" charset="0"/>
                  </a:rPr>
                  <a:t>In simple terms: Attention allows each word to look at all other words, decide which ones are important, and combine their information to create a richer contextual representation</a:t>
                </a:r>
                <a:r>
                  <a:rPr lang="en-IN" b="1" dirty="0"/>
                  <a:t>.</a:t>
                </a:r>
                <a:endParaRPr lang="en-IN" dirty="0"/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4A9584F-DBD3-4A89-4A1A-838EFE5108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628649"/>
                <a:ext cx="12075967" cy="5800725"/>
              </a:xfrm>
              <a:blipFill>
                <a:blip r:embed="rId3"/>
                <a:stretch>
                  <a:fillRect l="-757" t="-1471" r="-8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149977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B5AD8-93E4-1B31-157B-AC811157B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0D73-45CD-4F05-A520-703EA27DC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4" y="0"/>
            <a:ext cx="11959931" cy="115252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3200" b="1" dirty="0" err="1">
                <a:latin typeface="Arial Black" panose="020B0A04020102020204" pitchFamily="34" charset="0"/>
                <a:ea typeface="+mn-ea"/>
                <a:cs typeface="+mn-cs"/>
              </a:rPr>
              <a:t>Multihead</a:t>
            </a:r>
            <a:r>
              <a:rPr lang="en-US" sz="3200" b="1" dirty="0">
                <a:latin typeface="Arial Black" panose="020B0A04020102020204" pitchFamily="34" charset="0"/>
                <a:ea typeface="+mn-ea"/>
                <a:cs typeface="+mn-cs"/>
              </a:rPr>
              <a:t>  Attention Mechanism used in the Transformer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9622664-4D17-15CA-BD28-71F28B2886B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16033" y="1152525"/>
                <a:ext cx="12075967" cy="5800725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Multi-Head Attention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Multiple attention mechanisms run simultaneously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𝑀𝑢𝑙𝑡𝑖𝐻𝑒𝑎𝑑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𝐶𝑜𝑛𝑐𝑎𝑡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ℎ𝑒𝑎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...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ℎ𝑒𝑎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ℎ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endParaRPr lang="en-IN" dirty="0">
                  <a:latin typeface="Arial Black" panose="020B0A04020102020204" pitchFamily="34" charset="0"/>
                </a:endParaRP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Advantages: Captures different relationships, learns syntax and semantics </a:t>
                </a:r>
              </a:p>
              <a:p>
                <a:pPr algn="l"/>
                <a:r>
                  <a:rPr lang="en-IN" dirty="0">
                    <a:latin typeface="Arial Black" panose="020B0A04020102020204" pitchFamily="34" charset="0"/>
                  </a:rPr>
                  <a:t> </a:t>
                </a: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b="1" dirty="0">
                    <a:latin typeface="Arial Black" panose="020B0A04020102020204" pitchFamily="34" charset="0"/>
                  </a:rPr>
                </a:br>
                <a:endParaRPr lang="en-IN" dirty="0">
                  <a:latin typeface="Arial Black" panose="020B0A04020102020204" pitchFamily="34" charset="0"/>
                </a:endParaRPr>
              </a:p>
              <a:p>
                <a:r>
                  <a:rPr lang="en-IN" dirty="0"/>
                  <a:t> </a:t>
                </a:r>
              </a:p>
              <a:p>
                <a:pPr algn="l"/>
                <a:endParaRPr lang="en-US" sz="4000" b="1" dirty="0">
                  <a:latin typeface="Arial Black" panose="020B0A04020102020204" pitchFamily="34" charset="0"/>
                </a:endParaRPr>
              </a:p>
              <a:p>
                <a:pPr algn="just"/>
                <a:endParaRPr lang="en-IN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b="1" dirty="0">
                    <a:latin typeface="Arial Black" panose="020B0A04020102020204" pitchFamily="34" charset="0"/>
                  </a:rPr>
                  <a:t> </a:t>
                </a:r>
                <a:endParaRPr lang="en-IN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800" b="1" dirty="0">
                  <a:latin typeface="Arial Black" panose="020B0A04020102020204" pitchFamily="34" charset="0"/>
                </a:endParaRPr>
              </a:p>
              <a:p>
                <a:pPr marL="457200" indent="-45720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IN" sz="2800" b="1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br>
                  <a:rPr lang="en-IN" sz="2800" dirty="0">
                    <a:latin typeface="Arial Black" panose="020B0A04020102020204" pitchFamily="34" charset="0"/>
                  </a:rPr>
                </a:b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sz="28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marL="717550" indent="-717550" algn="l">
                  <a:lnSpc>
                    <a:spcPct val="100000"/>
                  </a:lnSpc>
                  <a:spcBef>
                    <a:spcPts val="0"/>
                  </a:spcBef>
                  <a:buFont typeface="Wingdings" panose="05000000000000000000" pitchFamily="2" charset="2"/>
                  <a:buChar char="q"/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US" sz="2300" dirty="0">
                  <a:latin typeface="Arial Black" panose="020B0A04020102020204" pitchFamily="34" charset="0"/>
                </a:endParaRPr>
              </a:p>
              <a:p>
                <a:pPr algn="l">
                  <a:lnSpc>
                    <a:spcPct val="100000"/>
                  </a:lnSpc>
                  <a:spcBef>
                    <a:spcPts val="0"/>
                  </a:spcBef>
                </a:pPr>
                <a:endParaRPr lang="en-IN" dirty="0">
                  <a:latin typeface="Arial Black" panose="020B0A04020102020204" pitchFamily="34" charset="0"/>
                </a:endParaRPr>
              </a:p>
            </p:txBody>
          </p:sp>
        </mc:Choice>
        <mc:Fallback xmlns="">
          <p:sp>
            <p:nvSpPr>
              <p:cNvPr id="3" name="Subtitle 2">
                <a:extLst>
                  <a:ext uri="{FF2B5EF4-FFF2-40B4-BE49-F238E27FC236}">
                    <a16:creationId xmlns:a16="http://schemas.microsoft.com/office/drawing/2014/main" id="{59622664-4D17-15CA-BD28-71F28B2886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16033" y="1152525"/>
                <a:ext cx="12075967" cy="5800725"/>
              </a:xfrm>
              <a:blipFill>
                <a:blip r:embed="rId3"/>
                <a:stretch>
                  <a:fillRect l="-757" t="-14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344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3442</TotalTime>
  <Words>3374</Words>
  <Application>Microsoft Office PowerPoint</Application>
  <PresentationFormat>Widescreen</PresentationFormat>
  <Paragraphs>1187</Paragraphs>
  <Slides>59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Aptos</vt:lpstr>
      <vt:lpstr>Aptos Display</vt:lpstr>
      <vt:lpstr>Arial</vt:lpstr>
      <vt:lpstr>Arial Black</vt:lpstr>
      <vt:lpstr>Cambria Math</vt:lpstr>
      <vt:lpstr>Wingdings</vt:lpstr>
      <vt:lpstr>Office Theme</vt:lpstr>
      <vt:lpstr>ELLM – Session – 7</vt:lpstr>
      <vt:lpstr>Foundations of Language Models</vt:lpstr>
      <vt:lpstr>Types of Langage Models</vt:lpstr>
      <vt:lpstr>PowerPoint Presentation</vt:lpstr>
      <vt:lpstr>Statistical Language Models -  n-gram</vt:lpstr>
      <vt:lpstr>Estimating the probabilities of grams</vt:lpstr>
      <vt:lpstr>Estimating the probabilities of n-grams</vt:lpstr>
      <vt:lpstr>n-grams Advantages and Limitations</vt:lpstr>
      <vt:lpstr>Smoothing through Laplace Transfermation</vt:lpstr>
      <vt:lpstr>Neural Language Models</vt:lpstr>
      <vt:lpstr>RNN Models</vt:lpstr>
      <vt:lpstr>RNN Architecture description</vt:lpstr>
      <vt:lpstr>PowerPoint Presentation</vt:lpstr>
      <vt:lpstr>PowerPoint Presentation</vt:lpstr>
      <vt:lpstr>PowerPoint Presentation</vt:lpstr>
      <vt:lpstr>PowerPoint Presentation</vt:lpstr>
      <vt:lpstr>RNN Architecture Example</vt:lpstr>
      <vt:lpstr>PowerPoint Presentation</vt:lpstr>
      <vt:lpstr>RNN Advantages and Limitations</vt:lpstr>
      <vt:lpstr>Long Short-Term Memory (LSTM)</vt:lpstr>
      <vt:lpstr>Long Short-Term Memory (LSTM) - Architecture</vt:lpstr>
      <vt:lpstr>LSTM Components: Forget Gate, Input Gate, Cell State, Output Gate </vt:lpstr>
      <vt:lpstr>Long Short-Term Memory (LSTM) –  Advantages and Limitations</vt:lpstr>
      <vt:lpstr> GRU (Gated Recurrent Unit)</vt:lpstr>
      <vt:lpstr> GRU (Gated Recurrent Unit) - Architecture</vt:lpstr>
      <vt:lpstr>GRU – Components</vt:lpstr>
      <vt:lpstr>GRU – Advantages and Limitations</vt:lpstr>
      <vt:lpstr>Comparison: RNN vs LSTM vs GRU</vt:lpstr>
      <vt:lpstr>Sequence-to-Sequence (Seq2Seq) Evolution Model</vt:lpstr>
      <vt:lpstr>Sequence-to-Sequence (Seq2Seq) Architetcure</vt:lpstr>
      <vt:lpstr>Sequence-to-Sequence (Seq2Seq)-  Encoder-Decoder</vt:lpstr>
      <vt:lpstr>Attention Mechanisms</vt:lpstr>
      <vt:lpstr>Attention Architecture</vt:lpstr>
      <vt:lpstr>Attention Score Computation</vt:lpstr>
      <vt:lpstr>Attention Score Computing Functions</vt:lpstr>
      <vt:lpstr>Computing the Attention Score through  dot product attention function</vt:lpstr>
      <vt:lpstr>Computing the Attention Score through  General Attention (Luong Attention)</vt:lpstr>
      <vt:lpstr>Computing the Attention Score through  Additive Attention (Bahdanau Attention)</vt:lpstr>
      <vt:lpstr>Computing the Attention Weights and Context Vector</vt:lpstr>
      <vt:lpstr>Transformers</vt:lpstr>
      <vt:lpstr>Transformers - Architecture</vt:lpstr>
      <vt:lpstr>Main Components of Transformer Architecture </vt:lpstr>
      <vt:lpstr>Input Embedding - Transformer</vt:lpstr>
      <vt:lpstr>Positional Embedding- Transformer</vt:lpstr>
      <vt:lpstr>Positional Embedding- Transformer</vt:lpstr>
      <vt:lpstr>Positional Embedding- Transformer</vt:lpstr>
      <vt:lpstr>Positional Embedding- Example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Core Attention Mechanism used in the Transformer</vt:lpstr>
      <vt:lpstr>Multihead  Attention Mechanism used in the 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Sastry Jammalamadaka</dc:creator>
  <cp:lastModifiedBy>P Manika Prasuna</cp:lastModifiedBy>
  <cp:revision>53</cp:revision>
  <dcterms:created xsi:type="dcterms:W3CDTF">2025-06-28T10:05:04Z</dcterms:created>
  <dcterms:modified xsi:type="dcterms:W3CDTF">2026-08-05T06:43:03Z</dcterms:modified>
</cp:coreProperties>
</file>