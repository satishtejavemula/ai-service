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9" r:id="rId2"/>
    <p:sldId id="521" r:id="rId3"/>
    <p:sldId id="618" r:id="rId4"/>
    <p:sldId id="636" r:id="rId5"/>
    <p:sldId id="637" r:id="rId6"/>
    <p:sldId id="638" r:id="rId7"/>
    <p:sldId id="639" r:id="rId8"/>
    <p:sldId id="640" r:id="rId9"/>
    <p:sldId id="641" r:id="rId10"/>
    <p:sldId id="574" r:id="rId11"/>
    <p:sldId id="596" r:id="rId12"/>
    <p:sldId id="597" r:id="rId13"/>
    <p:sldId id="619" r:id="rId14"/>
    <p:sldId id="621" r:id="rId15"/>
    <p:sldId id="622" r:id="rId16"/>
    <p:sldId id="642" r:id="rId17"/>
    <p:sldId id="643" r:id="rId18"/>
    <p:sldId id="644" r:id="rId19"/>
    <p:sldId id="62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681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67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33598-59FB-41BF-ACF3-2A43CB9647E3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10035-8809-402A-A7D9-231BE7CDC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55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8F3BB-EF41-BCA0-EC56-B42CFDC94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4792C2-BD7A-A09F-1748-4A37469D8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0E492-5FA8-0E88-8137-41C68EE6D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14A76-D5D0-816E-E653-F3038709E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606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BB69-6573-32E9-06F0-63D51FB64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32629-E436-74B2-6A20-1197DC324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A0A1D-4BB0-981A-21E5-B14A0EF90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ED88F-051F-44FD-377D-42AFDA1B2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694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611EA-E845-413F-CA1D-6029CEE8F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BB52D-A005-9D26-1CA0-FDB4EA7D4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3EF59-DB90-42B8-3785-5C0921C67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C8B54-4064-BC37-3D43-CB99D1BA7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446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493B-6C54-CC69-034E-5252AE10B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02114-3780-C2CE-5532-5D09DF1C3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9229DC-6041-FBFA-BB9F-5D7E769D7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31327-C4B7-1CA0-5175-05B23004B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295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4E057-91A7-30CC-A0B1-E351A50A7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F73C6-75CA-4B0A-38C6-B90DB1003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FE31C-213F-304E-5F06-E9DBA3542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2D606-D929-0972-169F-6E6387C9E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198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3B769-0C53-0BB0-0177-7DFD61DA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3F009-F5FD-A7E3-32D9-FD091C21F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8F40F-DC99-0A2E-E8E4-DC778EC62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59D07-68E5-35E4-700C-8DF4F646F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698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1AD82-C8ED-27F5-563C-B98A11BD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41D1A-6987-B039-4F66-3830943AD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F1462-28B5-419C-12C4-5957D0E10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D6C2B-E5B0-C4C9-1070-7869BD33A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977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D9E37-F448-50FF-06E5-40F98AA1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83C50-B93B-462D-200A-0E35B7BE9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748D0-62E3-4F11-052F-79C044F52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21826-11E3-1E29-96F8-ED1F4E34E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01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CCCF3-BAA6-A842-23A3-446ACA038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178C2-811D-A12E-5CF6-868C87FDD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6287C-E0E1-C51E-1115-31B5108D4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269DA-CE9B-58AF-DD35-2F501647E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628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27449-B983-6BBA-1648-2C9AF132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C8E6B-5837-5358-0489-AC2D77E13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428DF-E82B-88A9-A582-FD29D4F7C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EB0B7-743B-106D-8216-C7C4E9EB3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53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EBC08-28FE-21BD-ED1E-2644D12D6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A2624-7006-A6F0-A397-5FCFC8955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70A05-4087-2F76-8585-5C40C6F04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28367-4040-05CE-B149-17D6A0615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476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CC3D1-D5B3-0F48-1491-E335B35F2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A4E29-422F-89C5-B9AC-8E7001C9A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B6413-5F4C-96D6-2DF9-E44A560BA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0A501-551D-58FC-471C-32DEF5DA2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663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6DF40-657A-AA93-54CE-21A15BF27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0D680-2BE3-6258-D4B1-21DEDD10F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88E2E-CEF5-FDAE-B8DE-4F8382301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177C7-513D-8CFC-8BD8-6D57F2993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279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D539-1726-00FE-EBB9-2DB62FC9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853EB-13A3-8959-10C6-716D172BB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1D892B-053D-59E6-BE33-5753A1550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E03C4-5A62-F64C-C50E-638DC5297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505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58E59-1284-D41E-4B17-475AC00C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26A57-4566-7D86-433E-05C0876D1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D3D3B-82CF-2CD6-602A-56BC3ED8F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FCFF4-2E6A-159A-79A4-06A29D6EE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810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E7974-AB9F-36C1-A686-171CE71A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E2F3F-7043-AC85-91D3-973D830B5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E16E7-37E4-9272-C266-E4D990F65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9AA21-B776-E7E5-200A-61F89EB2F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354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67D1C-34EB-C8A0-0A4B-1900DEAB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74C6B-E597-EA11-127D-3D56FDCAF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41AE7-96C2-D2D0-3B61-795689398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2C86-91B4-FC53-5563-A86F1E9A5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7840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A72E7-A1E0-1E12-E59C-76FE689D1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C18994-1454-9B1D-9362-DB61DAF13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A8160-16F9-291B-B78E-6B813039B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E005F-5BF3-97E8-5DFA-4602BF75F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715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A981-398E-B82D-8561-746618ED5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0DDCF-B4B6-C1F2-FC3A-E55F9B162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21A95-C3D8-1402-2455-A5B3A4D7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EEBE0-BB1D-D63E-BF89-65B9C46E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33170-BBA0-A2E2-348D-E1EC93B4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054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945A7-5115-F8C8-D531-89E6B4D1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92E68-8EDF-2BA5-6CC9-8CB912BF2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D114E-8785-3649-232F-146995D1A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63E4B-BFCC-A37C-A317-93163414E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8E9D-5F12-F5D0-4791-6DA80C09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23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021F4-A03A-A95D-1A87-57D4B4BD7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4B412-3F6A-DE9C-8D4F-45727E6C9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ECA40-2C45-D61B-8F87-6D9EDD9FF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CF3E4-E58C-39AE-CCD7-F9F52457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6F62A-F0D9-AA2B-2ED2-BAE90A15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253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0FA89-1BB0-D580-E54D-61028DDF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D2034-1494-140A-3C37-CED2E7AF7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D812-A0D8-E45C-8176-75E22E620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EE301-884A-90CE-D56B-6B6337D6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63047-D1EC-B9D4-29CE-25513041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6E05F-1F78-2DB8-DEED-B9919EF5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16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54A3-D0F1-6462-7096-5AE754B7D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4303C-4FC9-9BF6-9925-466B6DEF3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0C4EF-87EE-4687-00C8-2460F6742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15A23-626E-B8CB-61CD-0D5F28F67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6F5D5-8B90-D32D-23D6-999029ABF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40514A-81C9-C021-35D8-B54CD73AC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FA740-AE4B-88FE-FAEE-5F277FA00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D65C60-3AF5-EAEE-D4DB-B3D6452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626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178B-4A84-8CFE-3976-143F5796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B13522-4E2C-C041-323C-5812CC87B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59C26-1798-9D69-A2E9-F0A53329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A4654-511E-6690-25AF-99D54C327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50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1767B-1E97-C85E-96CE-2EC72007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A049A-3FC3-ED5C-9141-A54C193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F38CD-2396-631C-1146-738A66D6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63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F7BF7-68CB-F43D-82D3-E7B433C48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38626-E033-10BC-E4F8-A50AE4374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36358-9F23-413E-6AF8-63DAB6EB4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39852-2914-A91B-8D8F-8AF4CCE34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1410E-976E-5C16-AEA1-04566E548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418E1-E470-70D3-52F1-31F5B75DF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187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938A8-6FAD-94C2-1861-4859B205B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66136B-0CB3-E343-A49B-5D1FDB732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CF86D-2B2E-B9A7-DD49-F8091112A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13990-7532-F216-A63E-EE30722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6B5CB-1FD6-18F5-D8D4-BCED7972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14286-1A7F-6B53-9B93-41D916E86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34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A9496-B353-FF9E-EE11-8135591C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DEBB3-3F87-4044-D733-C6B547845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33EF1-E727-74F0-E64A-F71614802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F203E-3551-2966-C951-9613A2E31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8C902-A22C-2B9D-258E-C79C76FE8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84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75691E-4461-9F0F-366B-83ABE1BF4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7D157-A4E5-F6D7-83FC-5C734388C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ADF34-293D-8A0B-E397-88A775F8B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DD40B-A35F-172A-D4D1-80024E0A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04AA4-2308-4CAE-B33C-EC2D3F56F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26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D949E1-DFFF-A61B-C885-4A5256974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9DBF2-3AEB-7004-6B3C-DB8B588C3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7A7B-100B-BDE2-37BD-B24C19E27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7155E-9129-4D7D-ABC7-C1A82AB9357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E9FC8-6EA3-4C57-07F0-1AB756B51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5184D-07DC-40C1-E2B9-C1766FB49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533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867C-EC8F-AF8D-29C8-F567A2114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455" y="24913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latin typeface="Arial Black" panose="020B0A04020102020204" pitchFamily="34" charset="0"/>
              </a:rPr>
              <a:t>ELLM – Session – 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3F000-A665-9761-A314-A5655D978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87" y="1489153"/>
            <a:ext cx="11875625" cy="4379212"/>
          </a:xfrm>
        </p:spPr>
        <p:txBody>
          <a:bodyPr>
            <a:noAutofit/>
          </a:bodyPr>
          <a:lstStyle/>
          <a:p>
            <a:pPr marL="447675" lvl="0" indent="-447675" algn="just">
              <a:buFont typeface="Wingdings" panose="05000000000000000000" pitchFamily="2" charset="2"/>
              <a:buChar char="q"/>
            </a:pPr>
            <a:r>
              <a:rPr lang="en-US" dirty="0">
                <a:latin typeface="Arial Black" panose="020B0A04020102020204" pitchFamily="34" charset="0"/>
              </a:rPr>
              <a:t>Data Preparation: </a:t>
            </a:r>
          </a:p>
          <a:p>
            <a:pPr marL="0" lvl="0" indent="0" algn="just">
              <a:buNone/>
            </a:pPr>
            <a:endParaRPr lang="en-US" dirty="0">
              <a:latin typeface="Arial Black" panose="020B0A04020102020204" pitchFamily="34" charset="0"/>
            </a:endParaRPr>
          </a:p>
          <a:p>
            <a:pPr marL="1168400" lvl="0" indent="-717550" algn="just">
              <a:buFont typeface="Wingdings" panose="05000000000000000000" pitchFamily="2" charset="2"/>
              <a:buChar char="q"/>
            </a:pPr>
            <a:r>
              <a:rPr lang="en-US" dirty="0">
                <a:latin typeface="Arial Black" panose="020B0A04020102020204" pitchFamily="34" charset="0"/>
              </a:rPr>
              <a:t>Advanced Data Curation Methods</a:t>
            </a:r>
          </a:p>
          <a:p>
            <a:pPr marL="1168400" lvl="0" indent="-717550" algn="just">
              <a:buFont typeface="Wingdings" panose="05000000000000000000" pitchFamily="2" charset="2"/>
              <a:buChar char="q"/>
            </a:pPr>
            <a:r>
              <a:rPr lang="en-US" dirty="0">
                <a:latin typeface="Arial Black" panose="020B0A04020102020204" pitchFamily="34" charset="0"/>
              </a:rPr>
              <a:t>Complete Real-World LLM Dataset Pipeline</a:t>
            </a:r>
          </a:p>
          <a:p>
            <a:pPr marL="1168400" lvl="0" indent="-717550" algn="just">
              <a:buFont typeface="Wingdings" panose="05000000000000000000" pitchFamily="2" charset="2"/>
              <a:buChar char="q"/>
            </a:pPr>
            <a:r>
              <a:rPr lang="en-US" dirty="0">
                <a:latin typeface="Arial Black" panose="020B0A04020102020204" pitchFamily="34" charset="0"/>
              </a:rPr>
              <a:t>Popular Open Datasets for LLM Training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522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3F0AB-76C6-876E-37DF-CA45F4C0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AEAA-1863-2DF8-69CF-3F195F78D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16" y="54224"/>
            <a:ext cx="11959931" cy="4608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Advanced Data Curation Methods)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B6243-632C-5C4E-FC86-FCE1D0BC9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15071"/>
            <a:ext cx="12075965" cy="6140371"/>
          </a:xfrm>
        </p:spPr>
        <p:txBody>
          <a:bodyPr>
            <a:noAutofit/>
          </a:bodyPr>
          <a:lstStyle/>
          <a:p>
            <a:pPr marL="542925" indent="-542925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latin typeface="Arial Black" panose="020B0A04020102020204" pitchFamily="34" charset="0"/>
              </a:rPr>
              <a:t>As Large Language Models (LLMs) continue to grow in capability, the importance of advanced data curation has become increasingly significant. </a:t>
            </a:r>
          </a:p>
          <a:p>
            <a:pPr marL="542925" indent="-542925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b="1" dirty="0">
              <a:latin typeface="Arial Black" panose="020B0A04020102020204" pitchFamily="34" charset="0"/>
            </a:endParaRPr>
          </a:p>
          <a:p>
            <a:pPr marL="542925" indent="-542925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latin typeface="Arial Black" panose="020B0A04020102020204" pitchFamily="34" charset="0"/>
              </a:rPr>
              <a:t>Data curation extends beyond basic preprocessing by employing sophisticated techniques to improve </a:t>
            </a:r>
            <a:r>
              <a:rPr lang="en-US" b="1" dirty="0">
                <a:highlight>
                  <a:srgbClr val="FFFF00"/>
                </a:highlight>
                <a:latin typeface="Arial Black" panose="020B0A04020102020204" pitchFamily="34" charset="0"/>
              </a:rPr>
              <a:t>dataset quality, diversity, factual reliability, safety, and representativeness</a:t>
            </a:r>
            <a:r>
              <a:rPr lang="en-US" b="1" dirty="0">
                <a:latin typeface="Arial Black" panose="020B0A04020102020204" pitchFamily="34" charset="0"/>
              </a:rPr>
              <a:t>. </a:t>
            </a:r>
          </a:p>
          <a:p>
            <a:pPr marL="542925" indent="-542925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b="1" dirty="0">
              <a:latin typeface="Arial Black" panose="020B0A04020102020204" pitchFamily="34" charset="0"/>
            </a:endParaRPr>
          </a:p>
          <a:p>
            <a:pPr marL="542925" indent="-542925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latin typeface="Arial Black" panose="020B0A04020102020204" pitchFamily="34" charset="0"/>
              </a:rPr>
              <a:t>Properly curated datasets enable LLMs to generate </a:t>
            </a:r>
            <a:r>
              <a:rPr lang="en-US" b="1" dirty="0">
                <a:highlight>
                  <a:srgbClr val="FFFF00"/>
                </a:highlight>
                <a:latin typeface="Arial Black" panose="020B0A04020102020204" pitchFamily="34" charset="0"/>
              </a:rPr>
              <a:t>accurate, coherent, unbiased, and contextually relevant </a:t>
            </a:r>
            <a:r>
              <a:rPr lang="en-US" b="1" dirty="0">
                <a:latin typeface="Arial Black" panose="020B0A04020102020204" pitchFamily="34" charset="0"/>
              </a:rPr>
              <a:t>responses while minimizing hallucinations and harmful outputs.</a:t>
            </a:r>
          </a:p>
          <a:p>
            <a:pPr marL="542925" indent="-542925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b="1" dirty="0">
              <a:latin typeface="Arial Black" panose="020B0A04020102020204" pitchFamily="34" charset="0"/>
            </a:endParaRPr>
          </a:p>
          <a:p>
            <a:pPr marL="542925" indent="-542925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highlight>
                  <a:srgbClr val="FFFF00"/>
                </a:highlight>
                <a:latin typeface="Arial Black" panose="020B0A04020102020204" pitchFamily="34" charset="0"/>
              </a:rPr>
              <a:t>Objectives: </a:t>
            </a:r>
            <a:r>
              <a:rPr lang="en-US" b="1" dirty="0">
                <a:latin typeface="Arial Black" panose="020B0A04020102020204" pitchFamily="34" charset="0"/>
              </a:rPr>
              <a:t>Improve dataset quality and diversity, reduce noisy and redundant data, increase factual consistency, Minimize harmful or biased content, enhance model generalization, Support scalable data management</a:t>
            </a:r>
          </a:p>
          <a:p>
            <a:pPr algn="l"/>
            <a:r>
              <a:rPr lang="en-IN" dirty="0">
                <a:latin typeface="Arial Black" panose="020B0A04020102020204" pitchFamily="34" charset="0"/>
              </a:rPr>
              <a:t> 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b="1" dirty="0">
                <a:latin typeface="Arial Black" panose="020B0A04020102020204" pitchFamily="34" charset="0"/>
              </a:rPr>
            </a:br>
            <a:endParaRPr lang="en-IN" dirty="0">
              <a:latin typeface="Arial Black" panose="020B0A04020102020204" pitchFamily="34" charset="0"/>
            </a:endParaRPr>
          </a:p>
          <a:p>
            <a:r>
              <a:rPr lang="en-IN" dirty="0"/>
              <a:t> </a:t>
            </a:r>
          </a:p>
          <a:p>
            <a:pPr algn="l"/>
            <a:endParaRPr lang="en-US" sz="4000" b="1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878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1BCF-D85A-1F69-2A40-A07CA3D4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899A9-652C-0114-7C02-3EDBDA531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069" y="54224"/>
            <a:ext cx="11959931" cy="4608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Advanced Data Curation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599B-4B73-E7B3-9414-470B7C59D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15072"/>
            <a:ext cx="11783027" cy="5206438"/>
          </a:xfrm>
        </p:spPr>
        <p:txBody>
          <a:bodyPr>
            <a:noAutofit/>
          </a:bodyPr>
          <a:lstStyle/>
          <a:p>
            <a:pPr marL="809625" indent="-8096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3200" b="1" dirty="0">
                <a:latin typeface="Arial Black" panose="020B0A04020102020204" pitchFamily="34" charset="0"/>
              </a:rPr>
              <a:t>Intelligent Deduplication</a:t>
            </a:r>
            <a:endParaRPr lang="en-US" sz="3200" b="1" dirty="0">
              <a:latin typeface="Arial Black" panose="020B0A04020102020204" pitchFamily="34" charset="0"/>
            </a:endParaRPr>
          </a:p>
          <a:p>
            <a:pPr marL="809625" indent="-8096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3200" b="1" dirty="0">
                <a:latin typeface="Arial Black" panose="020B0A04020102020204" pitchFamily="34" charset="0"/>
              </a:rPr>
              <a:t>Semantic Quality Assessment</a:t>
            </a:r>
          </a:p>
          <a:p>
            <a:pPr marL="809625" indent="-8096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3200" b="1" dirty="0">
                <a:latin typeface="Arial Black" panose="020B0A04020102020204" pitchFamily="34" charset="0"/>
              </a:rPr>
              <a:t>Factual Verification</a:t>
            </a:r>
          </a:p>
          <a:p>
            <a:pPr marL="809625" indent="-8096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3200" dirty="0">
                <a:latin typeface="Arial Black" panose="020B0A04020102020204" pitchFamily="34" charset="0"/>
              </a:rPr>
              <a:t>Toxicity and Safety Filtering</a:t>
            </a:r>
          </a:p>
          <a:p>
            <a:pPr marL="809625" indent="-8096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3200" dirty="0">
                <a:latin typeface="Arial Black" panose="020B0A04020102020204" pitchFamily="34" charset="0"/>
              </a:rPr>
              <a:t>Bias Detection and Mitigation</a:t>
            </a:r>
          </a:p>
          <a:p>
            <a:pPr marL="809625" indent="-8096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3200" dirty="0">
                <a:latin typeface="Arial Black" panose="020B0A04020102020204" pitchFamily="34" charset="0"/>
              </a:rPr>
              <a:t>Active Learning</a:t>
            </a:r>
          </a:p>
          <a:p>
            <a:pPr marL="809625" indent="-8096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3200" dirty="0">
                <a:latin typeface="Arial Black" panose="020B0A04020102020204" pitchFamily="34" charset="0"/>
              </a:rPr>
              <a:t>Synthetic Data Generation</a:t>
            </a:r>
          </a:p>
          <a:p>
            <a:pPr marL="809625" indent="-8096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3200" dirty="0">
                <a:latin typeface="Arial Black" panose="020B0A04020102020204" pitchFamily="34" charset="0"/>
              </a:rPr>
              <a:t>Curriculum Data Curation</a:t>
            </a:r>
          </a:p>
          <a:p>
            <a:pPr marL="809625" indent="-8096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3200" dirty="0">
                <a:latin typeface="Arial Black" panose="020B0A04020102020204" pitchFamily="34" charset="0"/>
              </a:rPr>
              <a:t>Data Versioning</a:t>
            </a:r>
          </a:p>
          <a:p>
            <a:pPr marL="809625" indent="-8096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3200" dirty="0">
                <a:latin typeface="Arial Black" panose="020B0A04020102020204" pitchFamily="34" charset="0"/>
              </a:rPr>
              <a:t>Continuous Dataset Refresh</a:t>
            </a:r>
          </a:p>
          <a:p>
            <a:pPr marL="542925" indent="-542925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dirty="0">
              <a:latin typeface="Arial Black" panose="020B0A04020102020204" pitchFamily="34" charset="0"/>
            </a:endParaRPr>
          </a:p>
          <a:p>
            <a:r>
              <a:rPr lang="en-IN" dirty="0"/>
              <a:t> </a:t>
            </a:r>
          </a:p>
          <a:p>
            <a:pPr algn="l"/>
            <a:endParaRPr lang="en-US" sz="4000" b="1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435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95BC-CD7D-5CBD-A8A1-90363DC0C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C0AA-3D1F-0070-C325-63150B530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069" y="54224"/>
            <a:ext cx="11959931" cy="4608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Advanced Data Curation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A69CD-33EB-0A5F-673E-7FD459568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15072"/>
            <a:ext cx="12072394" cy="6288704"/>
          </a:xfrm>
        </p:spPr>
        <p:txBody>
          <a:bodyPr>
            <a:noAutofit/>
          </a:bodyPr>
          <a:lstStyle/>
          <a:p>
            <a:pPr marL="531813" indent="-531813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2000" b="1" dirty="0">
                <a:latin typeface="Arial Black" panose="020B0A04020102020204" pitchFamily="34" charset="0"/>
              </a:rPr>
              <a:t>Intelligent Deduplication</a:t>
            </a:r>
          </a:p>
          <a:p>
            <a:pPr marL="809625" indent="-8096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IN" sz="2000" b="1" dirty="0">
              <a:latin typeface="Arial Black" panose="020B0A04020102020204" pitchFamily="34" charset="0"/>
            </a:endParaRPr>
          </a:p>
          <a:p>
            <a:pPr marL="1343025" lvl="3" indent="-533400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IN" sz="2000" b="1" dirty="0">
                <a:latin typeface="Arial Black" panose="020B0A04020102020204" pitchFamily="34" charset="0"/>
              </a:rPr>
              <a:t>Web-scale datasets often contain duplicate and near-duplicate documents that can cause overfitting and reduce data diversity.</a:t>
            </a:r>
          </a:p>
          <a:p>
            <a:pPr marL="1343025" lvl="3" indent="-533400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endParaRPr lang="en-IN" sz="2000" b="1" dirty="0">
              <a:latin typeface="Arial Black" panose="020B0A04020102020204" pitchFamily="34" charset="0"/>
            </a:endParaRPr>
          </a:p>
          <a:p>
            <a:pPr marL="1343025" lvl="3" indent="-533400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IN" sz="2000" b="1" dirty="0">
                <a:latin typeface="Arial Black" panose="020B0A04020102020204" pitchFamily="34" charset="0"/>
              </a:rPr>
              <a:t>Methods: Exact hashing, </a:t>
            </a:r>
            <a:r>
              <a:rPr lang="en-IN" sz="2000" b="1" dirty="0" err="1">
                <a:latin typeface="Arial Black" panose="020B0A04020102020204" pitchFamily="34" charset="0"/>
              </a:rPr>
              <a:t>MinHash</a:t>
            </a:r>
            <a:r>
              <a:rPr lang="en-IN" sz="2000" b="1" dirty="0">
                <a:latin typeface="Arial Black" panose="020B0A04020102020204" pitchFamily="34" charset="0"/>
              </a:rPr>
              <a:t>, </a:t>
            </a:r>
            <a:r>
              <a:rPr lang="en-IN" sz="2000" b="1" dirty="0" err="1">
                <a:latin typeface="Arial Black" panose="020B0A04020102020204" pitchFamily="34" charset="0"/>
              </a:rPr>
              <a:t>SimHash</a:t>
            </a:r>
            <a:r>
              <a:rPr lang="en-IN" sz="2000" b="1" dirty="0">
                <a:latin typeface="Arial Black" panose="020B0A04020102020204" pitchFamily="34" charset="0"/>
              </a:rPr>
              <a:t>, Locality Sensitive Hashing (LSH), Embedding-based semantic similarity</a:t>
            </a:r>
          </a:p>
          <a:p>
            <a:pPr marL="1343025" lvl="3" indent="-533400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endParaRPr lang="en-IN" sz="2000" b="1" dirty="0">
              <a:latin typeface="Arial Black" panose="020B0A04020102020204" pitchFamily="34" charset="0"/>
            </a:endParaRPr>
          </a:p>
          <a:p>
            <a:pPr marL="1343025" lvl="3" indent="-533400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IN" sz="2000" b="1" dirty="0">
                <a:latin typeface="Arial Black" panose="020B0A04020102020204" pitchFamily="34" charset="0"/>
              </a:rPr>
              <a:t>Benefits: Reduces redundancy, improves vocabulary diversity, lowers storage requirements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2000" b="1" dirty="0">
              <a:latin typeface="Arial Black" panose="020B0A040201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2000" b="1" dirty="0">
                <a:latin typeface="Arial Black" panose="020B0A04020102020204" pitchFamily="34" charset="0"/>
              </a:rPr>
              <a:t>2.   Semantic Quality Assessment</a:t>
            </a:r>
          </a:p>
          <a:p>
            <a:pPr marL="809625" indent="-809625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IN" sz="2000" b="1" dirty="0">
              <a:latin typeface="Arial Black" panose="020B0A04020102020204" pitchFamily="34" charset="0"/>
            </a:endParaRPr>
          </a:p>
          <a:p>
            <a:pPr marL="1343025" lvl="3" indent="-533400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IN" sz="2000" b="1" dirty="0">
                <a:latin typeface="Arial Black" panose="020B0A04020102020204" pitchFamily="34" charset="0"/>
              </a:rPr>
              <a:t>Rather than relying solely on document length or grammar, modern pipelines estimate semantic quality using machine learning models.</a:t>
            </a:r>
          </a:p>
          <a:p>
            <a:pPr marL="1343025" lvl="3" indent="-533400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IN" sz="2000" b="1" dirty="0">
                <a:latin typeface="Arial Black" panose="020B0A04020102020204" pitchFamily="34" charset="0"/>
              </a:rPr>
              <a:t>Evaluation Criteria: Logical consistency, Coherence,  Informativeness, Readability, Completeness</a:t>
            </a:r>
          </a:p>
          <a:p>
            <a:pPr marL="1343025" lvl="3" indent="-533400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endParaRPr lang="en-IN" sz="2000" b="1" dirty="0">
              <a:latin typeface="Arial Black" panose="020B0A04020102020204" pitchFamily="34" charset="0"/>
            </a:endParaRPr>
          </a:p>
          <a:p>
            <a:pPr marL="1343025" lvl="3" indent="-533400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IN" sz="2000" b="1" dirty="0">
                <a:latin typeface="Arial Black" panose="020B0A04020102020204" pitchFamily="34" charset="0"/>
              </a:rPr>
              <a:t>Documents with low semantic scores are discarded before training</a:t>
            </a:r>
            <a:r>
              <a:rPr lang="en-IN" sz="1200" b="1" dirty="0">
                <a:latin typeface="Arial Black" panose="020B0A04020102020204" pitchFamily="34" charset="0"/>
              </a:rPr>
              <a:t>.</a:t>
            </a:r>
          </a:p>
          <a:p>
            <a:pPr marL="1343025" indent="-5334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IN" sz="2000" b="1" dirty="0">
              <a:latin typeface="Arial Black" panose="020B0A04020102020204" pitchFamily="34" charset="0"/>
            </a:endParaRPr>
          </a:p>
          <a:p>
            <a:pPr marL="542925" indent="-542925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dirty="0">
              <a:latin typeface="Arial Black" panose="020B0A04020102020204" pitchFamily="34" charset="0"/>
            </a:endParaRPr>
          </a:p>
          <a:p>
            <a:r>
              <a:rPr lang="en-IN" dirty="0"/>
              <a:t> </a:t>
            </a:r>
          </a:p>
          <a:p>
            <a:pPr algn="l"/>
            <a:endParaRPr lang="en-US" sz="4000" b="1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685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BD9B-A459-D5A0-7DF8-B578106E3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13E8-4379-469F-DDF0-98B144484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069" y="54224"/>
            <a:ext cx="11959931" cy="4608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Advanced Data Curation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F9B1E-5B7A-D75E-A70A-3AC31B8D2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15072"/>
            <a:ext cx="12072394" cy="628870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Arial Black" panose="020B0A04020102020204" pitchFamily="34" charset="0"/>
              </a:rPr>
              <a:t>3. Factual Verification</a:t>
            </a:r>
          </a:p>
          <a:p>
            <a:pPr marL="531813" indent="-531813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1076325" indent="-544513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Incorrect or misleading information may cause hallucinations during inference.</a:t>
            </a:r>
          </a:p>
          <a:p>
            <a:pPr marL="1076325" indent="-544513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Verification Techniques: Cross-reference multiple trusted sources: Knowledge graph validation, Retrieval-based verification, Human expert review,  Automated fact-checking systems</a:t>
            </a:r>
          </a:p>
          <a:p>
            <a:pPr marL="531813" indent="-531813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endParaRPr lang="en-US" sz="2000" b="1" dirty="0">
              <a:latin typeface="Arial Black" panose="020B0A040201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Arial Black" panose="020B0A04020102020204" pitchFamily="34" charset="0"/>
              </a:rPr>
              <a:t>4.  Toxicity and Safety Filtering</a:t>
            </a:r>
          </a:p>
          <a:p>
            <a:pPr marL="531813" indent="-531813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1076325" indent="-544513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Specialized classifiers identify harmful content before it is included.</a:t>
            </a:r>
          </a:p>
          <a:p>
            <a:pPr marL="1076325" indent="-544513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Categories: Hate speech, Harassment, Violence, Explicit content, Self-harm instructions, Illegal activities</a:t>
            </a:r>
          </a:p>
          <a:p>
            <a:pPr marL="1076325" indent="-544513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This improves model safety and responsible AI deployment.</a:t>
            </a:r>
          </a:p>
          <a:p>
            <a:pPr marL="542925" indent="-542925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dirty="0">
              <a:latin typeface="Arial Black" panose="020B0A04020102020204" pitchFamily="34" charset="0"/>
            </a:endParaRPr>
          </a:p>
          <a:p>
            <a:r>
              <a:rPr lang="en-IN" dirty="0"/>
              <a:t> </a:t>
            </a:r>
          </a:p>
          <a:p>
            <a:pPr algn="l"/>
            <a:endParaRPr lang="en-US" sz="4000" b="1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977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2DD0C-44FC-7243-98AC-066D0A823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09C8A-D7E4-0DF3-5BD2-A802D47B9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069" y="54224"/>
            <a:ext cx="11959931" cy="4608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Advanced Data Curation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5BDF2-01AA-6890-B254-81CB9EAAE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15072"/>
            <a:ext cx="12072394" cy="628870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Arial Black" panose="020B0A04020102020204" pitchFamily="34" charset="0"/>
              </a:rPr>
              <a:t>5. Bias Detection and Mitigation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1076325" indent="-544513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Training data should represent different cultures, genders, languages, and viewpoints fairly.</a:t>
            </a:r>
          </a:p>
          <a:p>
            <a:pPr marL="1076325" indent="-544513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1076325" indent="-544513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Bias Reduction Techniques: Balanced sampling, Fairness-aware filtering, Demographic balancing, Counterfactual data augmentation, Human auditing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latin typeface="Arial Black" panose="020B0A040201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Arial Black" panose="020B0A04020102020204" pitchFamily="34" charset="0"/>
              </a:rPr>
              <a:t>6.  Active Learning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1076325" indent="-544513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Instead of manually labelling every document, the model identifies uncertain samples for human annotation.</a:t>
            </a:r>
          </a:p>
          <a:p>
            <a:pPr marL="1076325" indent="-544513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1076325" indent="-544513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Advantages: Lower annotation cost, Faster dataset creation, Higher annotation efficiency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latin typeface="Arial Black" panose="020B0A04020102020204" pitchFamily="34" charset="0"/>
            </a:endParaRPr>
          </a:p>
          <a:p>
            <a:pPr algn="l"/>
            <a:endParaRPr lang="en-US" sz="4000" b="1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967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B5A71-EBFD-6DDA-8AE8-873A1C6D0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8D9A8-295A-6A76-BAFE-0E24107BA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069" y="54224"/>
            <a:ext cx="11959931" cy="4608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Advanced Data Curation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7D379-E4AA-FA5E-A75A-2EB131DD3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15072"/>
            <a:ext cx="12072394" cy="628870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Arial Black" panose="020B0A04020102020204" pitchFamily="34" charset="0"/>
              </a:rPr>
              <a:t>7. Synthetic Data Generation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1076325" indent="-625475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Powerful teacher models generate additional high-quality training samples.</a:t>
            </a:r>
          </a:p>
          <a:p>
            <a:pPr marL="1076325" indent="-625475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Applications include Question–Answer generation, Summarization, Code generation, Translation, and instruction tuning</a:t>
            </a:r>
          </a:p>
          <a:p>
            <a:pPr marL="1076325" indent="-625475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Synthetic data expands coverage while reducing dependence on manual annotation.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latin typeface="Arial Black" panose="020B0A040201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Arial Black" panose="020B0A04020102020204" pitchFamily="34" charset="0"/>
              </a:rPr>
              <a:t>8. Curriculum Data Curation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1076325" indent="-625475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Documents are organized according to complexity.</a:t>
            </a:r>
          </a:p>
          <a:p>
            <a:pPr marL="1076325" indent="-625475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Training progression: Simple Text → Medium Complexity → Technical Documents → Long Context Documents → Reasoning Tasks</a:t>
            </a:r>
          </a:p>
          <a:p>
            <a:pPr marL="1076325" indent="-625475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This curriculum learning strategy improves convergence and stability.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latin typeface="Arial Black" panose="020B0A04020102020204" pitchFamily="34" charset="0"/>
            </a:endParaRPr>
          </a:p>
          <a:p>
            <a:pPr algn="l"/>
            <a:endParaRPr lang="en-US" sz="4000" b="1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755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F65AC-F9E3-1A6C-4490-14B39E6E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5AD99-903C-CA6D-7063-6980BC5F6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069" y="54224"/>
            <a:ext cx="11959931" cy="4608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Advanced Data Curation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81B3E-78C9-7CA3-9224-5C36462C1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15072"/>
            <a:ext cx="12072394" cy="628870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Arial Black" panose="020B0A04020102020204" pitchFamily="34" charset="0"/>
              </a:rPr>
              <a:t>10. Data Versioning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984250" indent="-452438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Each dataset update is tracked using version control.</a:t>
            </a:r>
          </a:p>
          <a:p>
            <a:pPr marL="984250" indent="-452438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984250" indent="-452438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Metadata includes Dataset version, Collection date, Source, Processing pipeline, Quality metrics, and license information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latin typeface="Arial Black" panose="020B0A040201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Arial Black" panose="020B0A04020102020204" pitchFamily="34" charset="0"/>
              </a:rPr>
              <a:t>11. Continuous Dataset Refresh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984250" indent="-452438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Modern LLM datasets are periodically updated to include Recent news, Scientific discoveries, newly published books, Software documentation, updated regulations</a:t>
            </a:r>
          </a:p>
          <a:p>
            <a:pPr marL="984250" indent="-452438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Continuous refresh helps maintain current knowledge while preventing outdated information.</a:t>
            </a:r>
          </a:p>
          <a:p>
            <a:pPr marL="984250" indent="-452438" algn="just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sz="2000" b="1" dirty="0">
                <a:latin typeface="Arial Black" panose="020B0A04020102020204" pitchFamily="34" charset="0"/>
              </a:rPr>
              <a:t>Benefits of Advanced Data Curation: Higher factual accuracy, reduced hallucinations, Better reasoning ability, Increased robustness, improved multilingual performance, Enhanced model safety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latin typeface="Arial Black" panose="020B0A04020102020204" pitchFamily="34" charset="0"/>
            </a:endParaRPr>
          </a:p>
          <a:p>
            <a:pPr algn="l"/>
            <a:endParaRPr lang="en-US" sz="4000" b="1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205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68C51-6FF0-9A4D-F892-28BF4543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52BB9-7011-3138-275E-266379668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069" y="262568"/>
            <a:ext cx="11959931" cy="4608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Complete Real-World LLM Dataset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B8830-36DD-5B42-C9B5-2E0F7C5B4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85462"/>
            <a:ext cx="12072394" cy="6288704"/>
          </a:xfrm>
        </p:spPr>
        <p:txBody>
          <a:bodyPr>
            <a:noAutofit/>
          </a:bodyPr>
          <a:lstStyle/>
          <a:p>
            <a:pPr marL="531813" indent="-531813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latin typeface="Arial Black" panose="020B0A04020102020204" pitchFamily="34" charset="0"/>
              </a:rPr>
              <a:t>Industrial-scale LLM development requires a comprehensive pipeline that transforms raw web-scale data into high-quality, model-ready datasets. </a:t>
            </a:r>
          </a:p>
          <a:p>
            <a:pPr marL="531813" indent="-531813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b="1" dirty="0">
              <a:latin typeface="Arial Black" panose="020B0A04020102020204" pitchFamily="34" charset="0"/>
            </a:endParaRPr>
          </a:p>
          <a:p>
            <a:pPr marL="531813" indent="-531813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latin typeface="Arial Black" panose="020B0A04020102020204" pitchFamily="34" charset="0"/>
              </a:rPr>
              <a:t>The pipeline combines automated preprocessing, distributed computing, human feedback, and continuous monitoring to ensure efficient, scalable, and reliable data preparation.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latin typeface="Arial Black" panose="020B0A04020102020204" pitchFamily="34" charset="0"/>
            </a:endParaRPr>
          </a:p>
          <a:p>
            <a:pPr marL="531813" indent="-531813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latin typeface="Arial Black" panose="020B0A04020102020204" pitchFamily="34" charset="0"/>
              </a:rPr>
              <a:t>Objectives: Build scalable data pipelines, produce high-quality datasets, Support distributed training, enable continuous dataset improvement</a:t>
            </a:r>
          </a:p>
          <a:p>
            <a:pPr marL="531813" indent="-531813" algn="just">
              <a:buFont typeface="Wingdings" panose="05000000000000000000" pitchFamily="2" charset="2"/>
              <a:buChar char="q"/>
            </a:pPr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738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179F5-FAD8-F129-79FB-16E6CF0E0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CBD0B-684D-0185-E622-DF183076A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" b="1569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49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DF1ED-DCD6-964D-714C-0ECFCEBA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B450-D752-BB34-BB41-28C9DBE12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1"/>
            <a:ext cx="11959931" cy="6517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Pipeline Components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22D58-FA61-AA9B-7CE1-D31372E3E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34" y="651753"/>
            <a:ext cx="11727863" cy="5679599"/>
          </a:xfrm>
        </p:spPr>
        <p:txBody>
          <a:bodyPr>
            <a:noAutofit/>
          </a:bodyPr>
          <a:lstStyle/>
          <a:p>
            <a:pPr marL="450850" indent="-4508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  <a:latin typeface="Arial Black" panose="020B0A04020102020204" pitchFamily="34" charset="0"/>
              </a:rPr>
              <a:t>Data Acquisition:  </a:t>
            </a:r>
            <a:r>
              <a:rPr lang="en-US" sz="2000" b="1" dirty="0">
                <a:latin typeface="Arial Black" panose="020B0A04020102020204" pitchFamily="34" charset="0"/>
              </a:rPr>
              <a:t>Collect text from Websites, Books, Scientific literature, Code repositories, News articles, Forums and Government documents</a:t>
            </a:r>
          </a:p>
          <a:p>
            <a:pPr marL="450850" indent="-4508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  <a:latin typeface="Arial Black" panose="020B0A04020102020204" pitchFamily="34" charset="0"/>
              </a:rPr>
              <a:t>Preprocessing: </a:t>
            </a:r>
            <a:r>
              <a:rPr lang="en-US" sz="2000" b="1" dirty="0">
                <a:latin typeface="Arial Black" panose="020B0A04020102020204" pitchFamily="34" charset="0"/>
              </a:rPr>
              <a:t>Includes HTML removal, Duplicate removal, Noise elimination, and Unicode normalization, Language detection</a:t>
            </a:r>
          </a:p>
          <a:p>
            <a:pPr marL="450850" indent="-4508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  <a:latin typeface="Arial Black" panose="020B0A04020102020204" pitchFamily="34" charset="0"/>
              </a:rPr>
              <a:t>Quality Assurance: </a:t>
            </a:r>
            <a:r>
              <a:rPr lang="en-US" sz="2000" b="1" dirty="0">
                <a:latin typeface="Arial Black" panose="020B0A04020102020204" pitchFamily="34" charset="0"/>
              </a:rPr>
              <a:t>Performs: Spam filtering, Toxicity detection, Perplexity filtering, Readability assessment, Human review</a:t>
            </a:r>
          </a:p>
          <a:p>
            <a:pPr marL="450850" indent="-4508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  <a:latin typeface="Arial Black" panose="020B0A04020102020204" pitchFamily="34" charset="0"/>
              </a:rPr>
              <a:t>Annotation: </a:t>
            </a:r>
            <a:r>
              <a:rPr lang="en-US" sz="2000" b="1" dirty="0">
                <a:latin typeface="Arial Black" panose="020B0A04020102020204" pitchFamily="34" charset="0"/>
              </a:rPr>
              <a:t>Human annotators provide: Labels, Categories, Preference rankings, Safety labels, Instruction-response pairs</a:t>
            </a:r>
          </a:p>
          <a:p>
            <a:pPr marL="450850" indent="-4508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  <a:latin typeface="Arial Black" panose="020B0A04020102020204" pitchFamily="34" charset="0"/>
              </a:rPr>
              <a:t>Dataset Construction: </a:t>
            </a:r>
            <a:r>
              <a:rPr lang="en-US" sz="2000" b="1" dirty="0">
                <a:latin typeface="Arial Black" panose="020B0A04020102020204" pitchFamily="34" charset="0"/>
              </a:rPr>
              <a:t>Prepared datasets include Pretraining corpus, Instruction tuning dataset, RLHF dataset, Multimodal dataset, Evaluation benchmark</a:t>
            </a:r>
          </a:p>
          <a:p>
            <a:pPr marL="450850" indent="-4508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  <a:latin typeface="Arial Black" panose="020B0A04020102020204" pitchFamily="34" charset="0"/>
              </a:rPr>
              <a:t>Storage: </a:t>
            </a:r>
            <a:r>
              <a:rPr lang="en-US" sz="2000" b="1" dirty="0">
                <a:latin typeface="Arial Black" panose="020B0A04020102020204" pitchFamily="34" charset="0"/>
              </a:rPr>
              <a:t>Datasets are stored in optimized formats: JSONL, Parquet, TFRecord, </a:t>
            </a:r>
            <a:r>
              <a:rPr lang="en-US" sz="2000" b="1" dirty="0" err="1">
                <a:latin typeface="Arial Black" panose="020B0A04020102020204" pitchFamily="34" charset="0"/>
              </a:rPr>
              <a:t>WebDataset</a:t>
            </a:r>
            <a:endParaRPr lang="en-US" sz="2000" b="1" dirty="0">
              <a:latin typeface="Arial Black" panose="020B0A04020102020204" pitchFamily="34" charset="0"/>
            </a:endParaRPr>
          </a:p>
          <a:p>
            <a:pPr marL="450850" indent="-4508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  <a:latin typeface="Arial Black" panose="020B0A04020102020204" pitchFamily="34" charset="0"/>
              </a:rPr>
              <a:t>Model Training: </a:t>
            </a:r>
            <a:r>
              <a:rPr lang="en-US" sz="2000" b="1" dirty="0">
                <a:latin typeface="Arial Black" panose="020B0A04020102020204" pitchFamily="34" charset="0"/>
              </a:rPr>
              <a:t>Training stages: Pretraining, Supervised Fine-Tuning (SFT), RLHF or Direct Preference Optimization (DPO), Evaluation, Deployment</a:t>
            </a:r>
          </a:p>
          <a:p>
            <a:pPr marL="450850" indent="-4508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  <a:latin typeface="Arial Black" panose="020B0A04020102020204" pitchFamily="34" charset="0"/>
              </a:rPr>
              <a:t>Continuous Improvement: </a:t>
            </a:r>
            <a:r>
              <a:rPr lang="en-US" sz="2000" b="1" dirty="0">
                <a:latin typeface="Arial Black" panose="020B0A04020102020204" pitchFamily="34" charset="0"/>
              </a:rPr>
              <a:t>The deployed model generates user interactions that can be incorporated—after appropriate review, filtering, and privacy safeguards—into future dataset updates, enabling iterative improvement.</a:t>
            </a:r>
          </a:p>
          <a:p>
            <a:pPr marL="808038" indent="-808038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sz="3200" b="1" dirty="0">
              <a:latin typeface="Arial Black" panose="020B0A04020102020204" pitchFamily="34" charset="0"/>
            </a:endParaRPr>
          </a:p>
          <a:p>
            <a:pPr algn="l"/>
            <a:endParaRPr lang="en-US" b="1" dirty="0">
              <a:latin typeface="Arial Black" panose="020B0A04020102020204" pitchFamily="34" charset="0"/>
            </a:endParaRPr>
          </a:p>
          <a:p>
            <a:pPr algn="l"/>
            <a:r>
              <a:rPr lang="en-IN" dirty="0">
                <a:latin typeface="Arial Black" panose="020B0A04020102020204" pitchFamily="34" charset="0"/>
              </a:rPr>
              <a:t> 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b="1" dirty="0">
                <a:latin typeface="Arial Black" panose="020B0A04020102020204" pitchFamily="34" charset="0"/>
              </a:rPr>
            </a:br>
            <a:endParaRPr lang="en-IN" dirty="0">
              <a:latin typeface="Arial Black" panose="020B0A04020102020204" pitchFamily="34" charset="0"/>
            </a:endParaRPr>
          </a:p>
          <a:p>
            <a:r>
              <a:rPr lang="en-IN" dirty="0"/>
              <a:t> </a:t>
            </a:r>
          </a:p>
          <a:p>
            <a:pPr algn="l"/>
            <a:endParaRPr lang="en-US" sz="4000" b="1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788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FDA7E-56EC-6781-8323-C9A3EB7F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90516-6B89-D8CD-DB43-A09CA62A7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1"/>
            <a:ext cx="11959931" cy="6517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  <a:ea typeface="+mn-ea"/>
                <a:cs typeface="+mn-cs"/>
              </a:rPr>
              <a:t>Characteristics of Real-World Pipelines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3FB54-A84B-99C5-3B4E-1C30FBF75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6" y="871672"/>
            <a:ext cx="12075965" cy="6484701"/>
          </a:xfrm>
        </p:spPr>
        <p:txBody>
          <a:bodyPr>
            <a:noAutofit/>
          </a:bodyPr>
          <a:lstStyle/>
          <a:p>
            <a:pPr marL="808038" indent="-808038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800" b="1" dirty="0">
                <a:latin typeface="Arial Black" panose="020B0A04020102020204" pitchFamily="34" charset="0"/>
              </a:rPr>
              <a:t>Distributed computing</a:t>
            </a:r>
          </a:p>
          <a:p>
            <a:pPr marL="808038" indent="-808038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800" b="1" dirty="0">
                <a:latin typeface="Arial Black" panose="020B0A04020102020204" pitchFamily="34" charset="0"/>
              </a:rPr>
              <a:t>Fault tolerance</a:t>
            </a:r>
          </a:p>
          <a:p>
            <a:pPr marL="808038" indent="-808038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800" b="1" dirty="0">
                <a:latin typeface="Arial Black" panose="020B0A04020102020204" pitchFamily="34" charset="0"/>
              </a:rPr>
              <a:t>Continuous monitoring</a:t>
            </a:r>
          </a:p>
          <a:p>
            <a:pPr marL="808038" indent="-808038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800" b="1" dirty="0">
                <a:latin typeface="Arial Black" panose="020B0A04020102020204" pitchFamily="34" charset="0"/>
              </a:rPr>
              <a:t>Version-controlled datasets</a:t>
            </a:r>
          </a:p>
          <a:p>
            <a:pPr marL="808038" indent="-808038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800" b="1" dirty="0">
                <a:latin typeface="Arial Black" panose="020B0A04020102020204" pitchFamily="34" charset="0"/>
              </a:rPr>
              <a:t>Automated quality assurance</a:t>
            </a:r>
          </a:p>
          <a:p>
            <a:pPr marL="808038" indent="-808038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800" b="1" dirty="0">
                <a:latin typeface="Arial Black" panose="020B0A04020102020204" pitchFamily="34" charset="0"/>
              </a:rPr>
              <a:t>Human-in-the-loop validation</a:t>
            </a:r>
          </a:p>
          <a:p>
            <a:pPr marL="808038" indent="-808038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800" b="1" dirty="0">
                <a:latin typeface="Arial Black" panose="020B0A04020102020204" pitchFamily="34" charset="0"/>
              </a:rPr>
              <a:t>High scalability</a:t>
            </a:r>
          </a:p>
          <a:p>
            <a:pPr algn="l"/>
            <a:r>
              <a:rPr lang="en-IN" dirty="0">
                <a:latin typeface="Arial Black" panose="020B0A04020102020204" pitchFamily="34" charset="0"/>
              </a:rPr>
              <a:t> 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b="1" dirty="0">
                <a:latin typeface="Arial Black" panose="020B0A04020102020204" pitchFamily="34" charset="0"/>
              </a:rPr>
            </a:br>
            <a:endParaRPr lang="en-IN" dirty="0">
              <a:latin typeface="Arial Black" panose="020B0A04020102020204" pitchFamily="34" charset="0"/>
            </a:endParaRPr>
          </a:p>
          <a:p>
            <a:r>
              <a:rPr lang="en-IN" dirty="0"/>
              <a:t> </a:t>
            </a:r>
          </a:p>
          <a:p>
            <a:pPr algn="l"/>
            <a:endParaRPr lang="en-US" sz="4000" b="1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802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3DE9D-A1ED-6192-EA51-E264E3A8B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A1F03-9D91-DB22-25BF-82A34C3E7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1"/>
            <a:ext cx="11959931" cy="6517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latin typeface="Arial Black" panose="020B0A04020102020204" pitchFamily="34" charset="0"/>
                <a:ea typeface="+mn-ea"/>
                <a:cs typeface="+mn-cs"/>
              </a:rPr>
              <a:t>Advantages of real-time Pipelines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5CBA4-697E-9133-CCAE-82FF368A9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50758" y="651753"/>
            <a:ext cx="12075965" cy="648470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808038" indent="-808038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800" b="1" dirty="0">
                <a:latin typeface="Arial Black" panose="020B0A04020102020204" pitchFamily="34" charset="0"/>
              </a:rPr>
              <a:t>High-quality datasets</a:t>
            </a:r>
          </a:p>
          <a:p>
            <a:pPr marL="808038" indent="-808038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800" b="1" dirty="0">
                <a:latin typeface="Arial Black" panose="020B0A04020102020204" pitchFamily="34" charset="0"/>
              </a:rPr>
              <a:t>Faster training</a:t>
            </a:r>
          </a:p>
          <a:p>
            <a:pPr marL="808038" indent="-808038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800" b="1" dirty="0">
                <a:latin typeface="Arial Black" panose="020B0A04020102020204" pitchFamily="34" charset="0"/>
              </a:rPr>
              <a:t>Better alignment</a:t>
            </a:r>
          </a:p>
          <a:p>
            <a:pPr marL="808038" indent="-808038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800" b="1" dirty="0">
                <a:latin typeface="Arial Black" panose="020B0A04020102020204" pitchFamily="34" charset="0"/>
              </a:rPr>
              <a:t>Improved reproducibility</a:t>
            </a:r>
          </a:p>
          <a:p>
            <a:pPr marL="808038" indent="-808038" algn="just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800" b="1" dirty="0">
                <a:latin typeface="Arial Black" panose="020B0A04020102020204" pitchFamily="34" charset="0"/>
              </a:rPr>
              <a:t>Reduced maintenance cost</a:t>
            </a:r>
          </a:p>
          <a:p>
            <a:pPr marL="808038" indent="-808038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sz="3200" b="1" dirty="0">
              <a:latin typeface="Arial Black" panose="020B0A04020102020204" pitchFamily="34" charset="0"/>
            </a:endParaRPr>
          </a:p>
          <a:p>
            <a:pPr algn="l"/>
            <a:endParaRPr lang="en-US" b="1" dirty="0">
              <a:latin typeface="Arial Black" panose="020B0A04020102020204" pitchFamily="34" charset="0"/>
            </a:endParaRPr>
          </a:p>
          <a:p>
            <a:pPr algn="l"/>
            <a:r>
              <a:rPr lang="en-IN" dirty="0">
                <a:latin typeface="Arial Black" panose="020B0A04020102020204" pitchFamily="34" charset="0"/>
              </a:rPr>
              <a:t> 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b="1" dirty="0">
                <a:latin typeface="Arial Black" panose="020B0A04020102020204" pitchFamily="34" charset="0"/>
              </a:rPr>
            </a:br>
            <a:endParaRPr lang="en-IN" dirty="0">
              <a:latin typeface="Arial Black" panose="020B0A04020102020204" pitchFamily="34" charset="0"/>
            </a:endParaRPr>
          </a:p>
          <a:p>
            <a:r>
              <a:rPr lang="en-IN" dirty="0"/>
              <a:t> </a:t>
            </a:r>
          </a:p>
          <a:p>
            <a:pPr algn="l"/>
            <a:endParaRPr lang="en-US" sz="4000" b="1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072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37D42-8200-F1F2-1EA6-87714F32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DB82D-FF1C-905B-8028-4CDF1D8DB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1"/>
            <a:ext cx="11959931" cy="6517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nn-NO" sz="2800" b="1" dirty="0">
                <a:latin typeface="Arial Black" panose="020B0A04020102020204" pitchFamily="34" charset="0"/>
                <a:ea typeface="+mn-ea"/>
                <a:cs typeface="+mn-cs"/>
              </a:rPr>
              <a:t>Popular Open Datasets for LLM Training</a:t>
            </a:r>
            <a:endParaRPr lang="en-US" sz="2800" b="1" dirty="0"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C5E26-D8F1-C09A-520C-B4B27F465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34" y="651754"/>
            <a:ext cx="12075966" cy="563330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sz="2800" b="1" dirty="0">
                <a:latin typeface="Arial Black" panose="020B0A04020102020204" pitchFamily="34" charset="0"/>
              </a:rPr>
              <a:t>Large Language Models are pretrained and fine-tuned using massive datasets collected from diverse domains. </a:t>
            </a:r>
          </a:p>
          <a:p>
            <a:pPr marL="457200" indent="-457200" algn="just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sz="2800" b="1" dirty="0">
                <a:latin typeface="Arial Black" panose="020B0A04020102020204" pitchFamily="34" charset="0"/>
              </a:rPr>
              <a:t>Publicly available datasets have played a major role in advancing open-source LLM research by providing large-scale, high-quality corpora for language understanding, reasoning, dialogue generation, code synthesis, and multilingual learning.</a:t>
            </a:r>
          </a:p>
          <a:p>
            <a:pPr marL="457200" indent="-457200" algn="just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sz="2800" b="1" dirty="0">
                <a:latin typeface="Arial Black" panose="020B0A04020102020204" pitchFamily="34" charset="0"/>
              </a:rPr>
              <a:t>Objectives: Provide diverse linguistic knowledge, support multilingual learning, improve reasoning capability, enable domain adaptation, and encourage reproducible research</a:t>
            </a:r>
          </a:p>
          <a:p>
            <a:pPr marL="808038" indent="-808038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sz="3200" b="1" dirty="0">
              <a:latin typeface="Arial Black" panose="020B0A04020102020204" pitchFamily="34" charset="0"/>
            </a:endParaRPr>
          </a:p>
          <a:p>
            <a:pPr algn="l"/>
            <a:endParaRPr lang="en-US" b="1" dirty="0">
              <a:latin typeface="Arial Black" panose="020B0A04020102020204" pitchFamily="34" charset="0"/>
            </a:endParaRPr>
          </a:p>
          <a:p>
            <a:pPr algn="l"/>
            <a:r>
              <a:rPr lang="en-IN" dirty="0">
                <a:latin typeface="Arial Black" panose="020B0A04020102020204" pitchFamily="34" charset="0"/>
              </a:rPr>
              <a:t> 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b="1" dirty="0">
                <a:latin typeface="Arial Black" panose="020B0A04020102020204" pitchFamily="34" charset="0"/>
              </a:rPr>
            </a:br>
            <a:endParaRPr lang="en-IN" dirty="0">
              <a:latin typeface="Arial Black" panose="020B0A04020102020204" pitchFamily="34" charset="0"/>
            </a:endParaRPr>
          </a:p>
          <a:p>
            <a:r>
              <a:rPr lang="en-IN" dirty="0"/>
              <a:t> </a:t>
            </a:r>
          </a:p>
          <a:p>
            <a:pPr algn="l"/>
            <a:endParaRPr lang="en-US" sz="4000" b="1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150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6248B-EB95-7152-B02F-19650232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83E9-4768-9D9D-1B39-26437E956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1"/>
            <a:ext cx="11959931" cy="6517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Popular Open Datasets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03A96C-2619-2FB1-428D-0C79430F6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63443"/>
              </p:ext>
            </p:extLst>
          </p:nvPr>
        </p:nvGraphicFramePr>
        <p:xfrm>
          <a:off x="204485" y="651753"/>
          <a:ext cx="11783028" cy="59074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4693">
                  <a:extLst>
                    <a:ext uri="{9D8B030D-6E8A-4147-A177-3AD203B41FA5}">
                      <a16:colId xmlns:a16="http://schemas.microsoft.com/office/drawing/2014/main" val="2311817019"/>
                    </a:ext>
                  </a:extLst>
                </a:gridCol>
                <a:gridCol w="1615060">
                  <a:extLst>
                    <a:ext uri="{9D8B030D-6E8A-4147-A177-3AD203B41FA5}">
                      <a16:colId xmlns:a16="http://schemas.microsoft.com/office/drawing/2014/main" val="2209404997"/>
                    </a:ext>
                  </a:extLst>
                </a:gridCol>
                <a:gridCol w="4316353">
                  <a:extLst>
                    <a:ext uri="{9D8B030D-6E8A-4147-A177-3AD203B41FA5}">
                      <a16:colId xmlns:a16="http://schemas.microsoft.com/office/drawing/2014/main" val="1550652819"/>
                    </a:ext>
                  </a:extLst>
                </a:gridCol>
                <a:gridCol w="4506922">
                  <a:extLst>
                    <a:ext uri="{9D8B030D-6E8A-4147-A177-3AD203B41FA5}">
                      <a16:colId xmlns:a16="http://schemas.microsoft.com/office/drawing/2014/main" val="4091532811"/>
                    </a:ext>
                  </a:extLst>
                </a:gridCol>
              </a:tblGrid>
              <a:tr h="5049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Dataset Number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Name of the dataset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Description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Applications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extLst>
                  <a:ext uri="{0D108BD9-81ED-4DB2-BD59-A6C34878D82A}">
                    <a16:rowId xmlns:a16="http://schemas.microsoft.com/office/drawing/2014/main" val="670698721"/>
                  </a:ext>
                </a:extLst>
              </a:tr>
              <a:tr h="11180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</a:rPr>
                        <a:t>1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Common Crawl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One of the largest publicly available web crawl datasets, containing billions of web pages collected from the Internet.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General LLM pretraining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Web knowledge acquisition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</a:endParaRPr>
                    </a:p>
                    <a:p>
                      <a:pPr marL="263525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 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Benefits: Massive scale, Regular updates, Broad domain coverage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extLst>
                  <a:ext uri="{0D108BD9-81ED-4DB2-BD59-A6C34878D82A}">
                    <a16:rowId xmlns:a16="http://schemas.microsoft.com/office/drawing/2014/main" val="804971729"/>
                  </a:ext>
                </a:extLst>
              </a:tr>
              <a:tr h="7627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</a:rPr>
                        <a:t>C4 (Colossal Clean Crawled Corpus)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</a:rPr>
                        <a:t>A cleaned subset of Common Crawl with extensive filtering and deduplication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Transformer pretraining 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Language modelling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extLst>
                  <a:ext uri="{0D108BD9-81ED-4DB2-BD59-A6C34878D82A}">
                    <a16:rowId xmlns:a16="http://schemas.microsoft.com/office/drawing/2014/main" val="259403709"/>
                  </a:ext>
                </a:extLst>
              </a:tr>
              <a:tr h="9467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</a:rPr>
                        <a:t>3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</a:rPr>
                        <a:t>The Pile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A diverse corpus containing text from books, academic papers, GitHub repositories, Wikipedia, Stack Exchange, legal documents, and more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Large-scale LLM pretraining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Scientific language modelling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Approximately 8GB of Text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extLst>
                  <a:ext uri="{0D108BD9-81ED-4DB2-BD59-A6C34878D82A}">
                    <a16:rowId xmlns:a16="http://schemas.microsoft.com/office/drawing/2014/main" val="3320497402"/>
                  </a:ext>
                </a:extLst>
              </a:tr>
              <a:tr h="10187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</a:rPr>
                        <a:t>4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</a:rPr>
                        <a:t>RedPajama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</a:rPr>
                        <a:t>An open-source reproduction of the training corpus used for LLaMA-style models, combining Common Crawl, GitHub, arXiv, Wikipedia, Stack Exchange, and Books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Open LLM training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Foundation model research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 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extLst>
                  <a:ext uri="{0D108BD9-81ED-4DB2-BD59-A6C34878D82A}">
                    <a16:rowId xmlns:a16="http://schemas.microsoft.com/office/drawing/2014/main" val="3790518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300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748F6-76E4-8A14-9F34-89052D844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B6FA-993D-B37B-303A-ED35D3EE4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1"/>
            <a:ext cx="11959931" cy="6517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Popular Open Datasets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DC9C2B-9975-DA45-380D-50E2BBC75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471911"/>
              </p:ext>
            </p:extLst>
          </p:nvPr>
        </p:nvGraphicFramePr>
        <p:xfrm>
          <a:off x="204485" y="651753"/>
          <a:ext cx="11783028" cy="56648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4693">
                  <a:extLst>
                    <a:ext uri="{9D8B030D-6E8A-4147-A177-3AD203B41FA5}">
                      <a16:colId xmlns:a16="http://schemas.microsoft.com/office/drawing/2014/main" val="2311817019"/>
                    </a:ext>
                  </a:extLst>
                </a:gridCol>
                <a:gridCol w="1615060">
                  <a:extLst>
                    <a:ext uri="{9D8B030D-6E8A-4147-A177-3AD203B41FA5}">
                      <a16:colId xmlns:a16="http://schemas.microsoft.com/office/drawing/2014/main" val="2209404997"/>
                    </a:ext>
                  </a:extLst>
                </a:gridCol>
                <a:gridCol w="4316353">
                  <a:extLst>
                    <a:ext uri="{9D8B030D-6E8A-4147-A177-3AD203B41FA5}">
                      <a16:colId xmlns:a16="http://schemas.microsoft.com/office/drawing/2014/main" val="1550652819"/>
                    </a:ext>
                  </a:extLst>
                </a:gridCol>
                <a:gridCol w="4506922">
                  <a:extLst>
                    <a:ext uri="{9D8B030D-6E8A-4147-A177-3AD203B41FA5}">
                      <a16:colId xmlns:a16="http://schemas.microsoft.com/office/drawing/2014/main" val="4091532811"/>
                    </a:ext>
                  </a:extLst>
                </a:gridCol>
              </a:tblGrid>
              <a:tr h="5049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Dataset Number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Name of the dataset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Description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Applications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extLst>
                  <a:ext uri="{0D108BD9-81ED-4DB2-BD59-A6C34878D82A}">
                    <a16:rowId xmlns:a16="http://schemas.microsoft.com/office/drawing/2014/main" val="670698721"/>
                  </a:ext>
                </a:extLst>
              </a:tr>
              <a:tr h="11180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5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 dirty="0" err="1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FineWeb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A high-quality web corpus curated from Common Crawl with extensive filtering, deduplication, and quality scoring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Foundation model pretraining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Efficient large-scale language modelling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4971729"/>
                  </a:ext>
                </a:extLst>
              </a:tr>
              <a:tr h="7627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6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Wikipedia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A collaboratively curated encyclopaedia containing high-quality factual knowledge across numerous languages.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Knowledge-intensive language tasks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Question answering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Summarization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263525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 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403709"/>
                  </a:ext>
                </a:extLst>
              </a:tr>
              <a:tr h="9467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7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BookCorpus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A collection of unpublished novels providing long-form narrative text.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Long-context understanding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Story generation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Dialogue modelling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0497402"/>
                  </a:ext>
                </a:extLst>
              </a:tr>
              <a:tr h="10187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8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OSCAR (Open Super-large Crawled Aggregated Corpus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A multilingual corpus extracted from Common Crawl using language identification and filtering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Multilingual LLMs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Cross-lingual transfer learning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263525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 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0518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634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DC719-BBC8-FE6E-83D6-C1000C2F8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77DB2-003D-7365-0AC5-8CE1998F7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1"/>
            <a:ext cx="11959931" cy="6517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Popular Open Datasets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5F345B-8A10-7187-CC37-782230531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989571"/>
              </p:ext>
            </p:extLst>
          </p:nvPr>
        </p:nvGraphicFramePr>
        <p:xfrm>
          <a:off x="204485" y="651753"/>
          <a:ext cx="11783028" cy="56648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4693">
                  <a:extLst>
                    <a:ext uri="{9D8B030D-6E8A-4147-A177-3AD203B41FA5}">
                      <a16:colId xmlns:a16="http://schemas.microsoft.com/office/drawing/2014/main" val="2311817019"/>
                    </a:ext>
                  </a:extLst>
                </a:gridCol>
                <a:gridCol w="1615060">
                  <a:extLst>
                    <a:ext uri="{9D8B030D-6E8A-4147-A177-3AD203B41FA5}">
                      <a16:colId xmlns:a16="http://schemas.microsoft.com/office/drawing/2014/main" val="2209404997"/>
                    </a:ext>
                  </a:extLst>
                </a:gridCol>
                <a:gridCol w="4316353">
                  <a:extLst>
                    <a:ext uri="{9D8B030D-6E8A-4147-A177-3AD203B41FA5}">
                      <a16:colId xmlns:a16="http://schemas.microsoft.com/office/drawing/2014/main" val="1550652819"/>
                    </a:ext>
                  </a:extLst>
                </a:gridCol>
                <a:gridCol w="4506922">
                  <a:extLst>
                    <a:ext uri="{9D8B030D-6E8A-4147-A177-3AD203B41FA5}">
                      <a16:colId xmlns:a16="http://schemas.microsoft.com/office/drawing/2014/main" val="4091532811"/>
                    </a:ext>
                  </a:extLst>
                </a:gridCol>
              </a:tblGrid>
              <a:tr h="5049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Dataset Number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Name of the dataset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Description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</a:rPr>
                        <a:t>Applications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016" marR="67016" marT="0" marB="0"/>
                </a:tc>
                <a:extLst>
                  <a:ext uri="{0D108BD9-81ED-4DB2-BD59-A6C34878D82A}">
                    <a16:rowId xmlns:a16="http://schemas.microsoft.com/office/drawing/2014/main" val="670698721"/>
                  </a:ext>
                </a:extLst>
              </a:tr>
              <a:tr h="11180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9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 dirty="0" err="1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SlimPajama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A compact, deduplicated version of RedPajama designed for computational efficiency while maintaining high data quality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Efficient pretraining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Resource-constrained LLM development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263525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 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4971729"/>
                  </a:ext>
                </a:extLst>
              </a:tr>
              <a:tr h="7627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10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Dolma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A large, openly available corpus emphasizing transparency in data collection, filtering, and documentation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Foundation model research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Open-source LLM training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403709"/>
                  </a:ext>
                </a:extLst>
              </a:tr>
              <a:tr h="9467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11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Code Datasets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GitHub repositories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The Stack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 err="1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CodeSearchNet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Code generation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Program synthesis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Code completion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0497402"/>
                  </a:ext>
                </a:extLst>
              </a:tr>
              <a:tr h="10187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12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Dialogue and Instruction Datasets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Alpaca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Dolly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OpenAssistant Conversations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FLAN Collection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ShareGPT-style conversation datasets (where licensing and usage permit)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Instruction tuning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Conversational AI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buFont typeface="Arial Black" panose="020B0A04020102020204" pitchFamily="34" charset="0"/>
                        <a:buChar char="•"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Chatbots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NewRomanPSMT"/>
                      </a:endParaRPr>
                    </a:p>
                    <a:p>
                      <a:pPr marL="353695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  <a:latin typeface="Arial Black" panose="020B0A04020102020204" pitchFamily="34" charset="0"/>
                          <a:ea typeface="Aptos" panose="020B0004020202020204" pitchFamily="34" charset="0"/>
                          <a:cs typeface="TimesNewRomanPSMT"/>
                        </a:rPr>
                        <a:t> 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0518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829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08D98-3A86-070B-4818-89FA10CB1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5A0D-AD17-C217-E53D-27AE5D288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1"/>
            <a:ext cx="11959931" cy="6517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Comparative Study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8774AF3-BB3B-370B-E6B8-305608993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657061"/>
              </p:ext>
            </p:extLst>
          </p:nvPr>
        </p:nvGraphicFramePr>
        <p:xfrm>
          <a:off x="0" y="574301"/>
          <a:ext cx="12192000" cy="63143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0190090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8311328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667202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782432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Dataset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Primary Source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Main Use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Key Strength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29313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Common Crawl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Web pages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Pretraining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Massive web-scale corpus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09529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C4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Cleaned web corpus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Language modelling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High-quality filtered text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093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The Pile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Mixed domains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Pretraining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Diverse high-quality corpus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93057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RedPajama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Multi-source corpus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Open LLMs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 err="1">
                          <a:effectLst/>
                          <a:latin typeface="Arial Black" panose="020B0A04020102020204" pitchFamily="34" charset="0"/>
                        </a:rPr>
                        <a:t>LLaMA</a:t>
                      </a: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-style reproduction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9155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FineWeb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Curated web corpus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Foundation models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High-quality filtering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4836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Wikipedia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Encyclopedia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Knowledge learning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Reliable factual information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80006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BookCorpus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Books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Long-context learning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Rich narrative text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7677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OSCAR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Multilingual web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Multilingual LLMs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100+ languages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61175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SlimPajama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Filtered RedPajama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Efficient pretraining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Reduced redundancy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45055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Dolma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Curated multi-source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Foundation models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Transparent curation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9789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The Stack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Source code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Code LLMs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Large-scale programming corpus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1705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FLAN / Alpaca / Dolly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Instruction datasets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>
                          <a:effectLst/>
                          <a:latin typeface="Arial Black" panose="020B0A04020102020204" pitchFamily="34" charset="0"/>
                        </a:rPr>
                        <a:t>Fine-tuning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0" dirty="0">
                          <a:effectLst/>
                          <a:latin typeface="Arial Black" panose="020B0A04020102020204" pitchFamily="34" charset="0"/>
                        </a:rPr>
                        <a:t>Instruction-following </a:t>
                      </a:r>
                      <a:r>
                        <a:rPr lang="en-IN" sz="1800" kern="0" dirty="0" err="1">
                          <a:effectLst/>
                          <a:latin typeface="Arial Black" panose="020B0A04020102020204" pitchFamily="34" charset="0"/>
                        </a:rPr>
                        <a:t>behavior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50180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970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18145-9A5A-1ED4-94B1-1099999CC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E7766-D064-0F58-9E90-05C270E62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5" y="-138895"/>
            <a:ext cx="11959931" cy="6517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07AD7-D056-EE37-8F53-EA3DCA9AC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34" y="524432"/>
            <a:ext cx="11682714" cy="6206246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latin typeface="Arial Black" panose="020B0A04020102020204" pitchFamily="34" charset="0"/>
              </a:rPr>
              <a:t>Advanced data preparation is the foundation of modern LLM development. </a:t>
            </a:r>
          </a:p>
          <a:p>
            <a:pPr marL="342900" indent="-342900" algn="just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latin typeface="Arial Black" panose="020B0A04020102020204" pitchFamily="34" charset="0"/>
              </a:rPr>
              <a:t>Advanced data curation methods employ semantic filtering, factual verification, deduplication, bias mitigation, toxicity detection, synthetic data generation, and continuous dataset refresh to maximize quality and reliability. </a:t>
            </a:r>
          </a:p>
          <a:p>
            <a:pPr marL="342900" indent="-342900" algn="just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latin typeface="Arial Black" panose="020B0A04020102020204" pitchFamily="34" charset="0"/>
              </a:rPr>
              <a:t>A complete real-world LLM dataset pipeline integrates large-scale data collection, preprocessing, quality assurance, annotation, instruction tuning, RLHF preparation, multimodal integration, distributed storage, and iterative model refinement into a unified workflow. </a:t>
            </a:r>
          </a:p>
          <a:p>
            <a:pPr marL="342900" indent="-342900" algn="just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sz="2200" dirty="0">
                <a:latin typeface="Arial Black" panose="020B0A04020102020204" pitchFamily="34" charset="0"/>
              </a:rPr>
              <a:t>Finally, popular open datasets such as Common Crawl, C4, The Pile, RedPajama, </a:t>
            </a:r>
            <a:r>
              <a:rPr lang="en-US" sz="2200" dirty="0" err="1">
                <a:latin typeface="Arial Black" panose="020B0A04020102020204" pitchFamily="34" charset="0"/>
              </a:rPr>
              <a:t>FineWeb</a:t>
            </a:r>
            <a:r>
              <a:rPr lang="en-US" sz="2200" dirty="0">
                <a:latin typeface="Arial Black" panose="020B0A04020102020204" pitchFamily="34" charset="0"/>
              </a:rPr>
              <a:t>, Wikipedia, OSCAR, </a:t>
            </a:r>
            <a:r>
              <a:rPr lang="en-US" sz="2200" dirty="0" err="1">
                <a:latin typeface="Arial Black" panose="020B0A04020102020204" pitchFamily="34" charset="0"/>
              </a:rPr>
              <a:t>SlimPajama</a:t>
            </a:r>
            <a:r>
              <a:rPr lang="en-US" sz="2200" dirty="0">
                <a:latin typeface="Arial Black" panose="020B0A04020102020204" pitchFamily="34" charset="0"/>
              </a:rPr>
              <a:t>, Dolma, and instruction-tuning datasets provide the diverse linguistic knowledge required to train and evaluate state-of-the-art Large Language Models across general-purpose, multilingual, domain-specific, and conversational tasks.</a:t>
            </a:r>
          </a:p>
          <a:p>
            <a:pPr marL="457200" indent="-457200" algn="just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endParaRPr lang="en-US" sz="2000" b="1" dirty="0">
              <a:latin typeface="Arial Black" panose="020B0A04020102020204" pitchFamily="34" charset="0"/>
            </a:endParaRPr>
          </a:p>
          <a:p>
            <a:pPr marL="808038" indent="-808038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sz="3200" b="1" dirty="0">
              <a:latin typeface="Arial Black" panose="020B0A04020102020204" pitchFamily="34" charset="0"/>
            </a:endParaRPr>
          </a:p>
          <a:p>
            <a:pPr algn="l"/>
            <a:endParaRPr lang="en-US" b="1" dirty="0">
              <a:latin typeface="Arial Black" panose="020B0A04020102020204" pitchFamily="34" charset="0"/>
            </a:endParaRPr>
          </a:p>
          <a:p>
            <a:pPr algn="l"/>
            <a:r>
              <a:rPr lang="en-IN" dirty="0">
                <a:latin typeface="Arial Black" panose="020B0A04020102020204" pitchFamily="34" charset="0"/>
              </a:rPr>
              <a:t> 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b="1" dirty="0">
                <a:latin typeface="Arial Black" panose="020B0A04020102020204" pitchFamily="34" charset="0"/>
              </a:rPr>
            </a:br>
            <a:endParaRPr lang="en-IN" dirty="0">
              <a:latin typeface="Arial Black" panose="020B0A04020102020204" pitchFamily="34" charset="0"/>
            </a:endParaRPr>
          </a:p>
          <a:p>
            <a:r>
              <a:rPr lang="en-IN" dirty="0"/>
              <a:t> </a:t>
            </a:r>
          </a:p>
          <a:p>
            <a:pPr algn="l"/>
            <a:endParaRPr lang="en-US" sz="4000" b="1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966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4795</TotalTime>
  <Words>1624</Words>
  <Application>Microsoft Office PowerPoint</Application>
  <PresentationFormat>Widescreen</PresentationFormat>
  <Paragraphs>509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Arial Black</vt:lpstr>
      <vt:lpstr>Symbol</vt:lpstr>
      <vt:lpstr>Wingdings</vt:lpstr>
      <vt:lpstr>Office Theme</vt:lpstr>
      <vt:lpstr>ELLM – Session – 15</vt:lpstr>
      <vt:lpstr>Advanced Data Curation Methods)</vt:lpstr>
      <vt:lpstr>Advanced Data Curation Techniques</vt:lpstr>
      <vt:lpstr>Advanced Data Curation Techniques</vt:lpstr>
      <vt:lpstr>Advanced Data Curation Techniques</vt:lpstr>
      <vt:lpstr>Advanced Data Curation Techniques</vt:lpstr>
      <vt:lpstr>Advanced Data Curation Techniques</vt:lpstr>
      <vt:lpstr>Advanced Data Curation Techniques</vt:lpstr>
      <vt:lpstr>Complete Real-World LLM Dataset Pipeline</vt:lpstr>
      <vt:lpstr>PowerPoint Presentation</vt:lpstr>
      <vt:lpstr>Pipeline Components</vt:lpstr>
      <vt:lpstr>Characteristics of Real-World Pipelines</vt:lpstr>
      <vt:lpstr>Advantages of real-time Pipelines</vt:lpstr>
      <vt:lpstr>Popular Open Datasets for LLM Training</vt:lpstr>
      <vt:lpstr>Popular Open Datasets</vt:lpstr>
      <vt:lpstr>Popular Open Datasets</vt:lpstr>
      <vt:lpstr>Popular Open Datasets</vt:lpstr>
      <vt:lpstr>Comparative Study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Sastry Jammalamadaka</dc:creator>
  <cp:lastModifiedBy>Sastry Jammalamadaka</cp:lastModifiedBy>
  <cp:revision>71</cp:revision>
  <dcterms:created xsi:type="dcterms:W3CDTF">2025-06-28T10:05:04Z</dcterms:created>
  <dcterms:modified xsi:type="dcterms:W3CDTF">2026-07-13T09:52:22Z</dcterms:modified>
</cp:coreProperties>
</file>